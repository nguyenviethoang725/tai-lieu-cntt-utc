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7"/>
  </p:notesMasterIdLst>
  <p:handoutMasterIdLst>
    <p:handoutMasterId r:id="rId18"/>
  </p:handoutMasterIdLst>
  <p:sldIdLst>
    <p:sldId id="485" r:id="rId2"/>
    <p:sldId id="587" r:id="rId3"/>
    <p:sldId id="661" r:id="rId4"/>
    <p:sldId id="662" r:id="rId5"/>
    <p:sldId id="663" r:id="rId6"/>
    <p:sldId id="664" r:id="rId7"/>
    <p:sldId id="665" r:id="rId8"/>
    <p:sldId id="666" r:id="rId9"/>
    <p:sldId id="667" r:id="rId10"/>
    <p:sldId id="668" r:id="rId11"/>
    <p:sldId id="670" r:id="rId12"/>
    <p:sldId id="671" r:id="rId13"/>
    <p:sldId id="672" r:id="rId14"/>
    <p:sldId id="669" r:id="rId15"/>
    <p:sldId id="673" r:id="rId16"/>
  </p:sldIdLst>
  <p:sldSz cx="9144000" cy="6858000" type="screen4x3"/>
  <p:notesSz cx="6699250" cy="9836150"/>
  <p:custDataLst>
    <p:tags r:id="rId19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orient="horz" pos="3197">
          <p15:clr>
            <a:srgbClr val="A4A3A4"/>
          </p15:clr>
        </p15:guide>
        <p15:guide id="3" orient="horz" pos="917">
          <p15:clr>
            <a:srgbClr val="A4A3A4"/>
          </p15:clr>
        </p15:guide>
        <p15:guide id="4" pos="235">
          <p15:clr>
            <a:srgbClr val="A4A3A4"/>
          </p15:clr>
        </p15:guide>
        <p15:guide id="5" pos="55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09" autoAdjust="0"/>
    <p:restoredTop sz="94900" autoAdjust="0"/>
  </p:normalViewPr>
  <p:slideViewPr>
    <p:cSldViewPr snapToGrid="0">
      <p:cViewPr varScale="1">
        <p:scale>
          <a:sx n="69" d="100"/>
          <a:sy n="69" d="100"/>
        </p:scale>
        <p:origin x="1302" y="78"/>
      </p:cViewPr>
      <p:guideLst>
        <p:guide orient="horz" pos="4319"/>
        <p:guide orient="horz" pos="3197"/>
        <p:guide orient="horz" pos="917"/>
        <p:guide pos="235"/>
        <p:guide pos="550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81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2375" y="0"/>
            <a:ext cx="29527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23388"/>
            <a:ext cx="287813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2375" y="9323388"/>
            <a:ext cx="29527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55999E9D-6D51-4EBC-8DAD-A3BF4FDC97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8021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 smtClean="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97300" y="0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 smtClean="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0588" y="738188"/>
            <a:ext cx="4919662" cy="3689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3763" y="4672013"/>
            <a:ext cx="4911725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Klicken Sie, um die Formate des Vorlagentextes zu bearbeiten</a:t>
            </a:r>
          </a:p>
          <a:p>
            <a:pPr lvl="1"/>
            <a:r>
              <a:rPr lang="en-GB" noProof="0" smtClean="0"/>
              <a:t>Zweite Ebene</a:t>
            </a:r>
          </a:p>
          <a:p>
            <a:pPr lvl="2"/>
            <a:r>
              <a:rPr lang="en-GB" noProof="0" smtClean="0"/>
              <a:t>Dritte Ebene</a:t>
            </a:r>
          </a:p>
          <a:p>
            <a:pPr lvl="3"/>
            <a:r>
              <a:rPr lang="en-GB" noProof="0" smtClean="0"/>
              <a:t>Vierte Ebene</a:t>
            </a:r>
          </a:p>
          <a:p>
            <a:pPr lvl="4"/>
            <a:r>
              <a:rPr lang="en-GB" noProof="0" smtClean="0"/>
              <a:t>Fünfte Ebene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45613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 smtClean="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97300" y="9345613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 smtClean="0">
                <a:latin typeface="Arial" charset="0"/>
              </a:defRPr>
            </a:lvl1pPr>
          </a:lstStyle>
          <a:p>
            <a:pPr>
              <a:defRPr/>
            </a:pPr>
            <a:fld id="{39B2171B-3D54-49F4-9539-1CAE2C757E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0939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1752CFA-C365-48FB-ADB1-FD2FE6103123}" type="slidenum">
              <a:rPr lang="en-GB">
                <a:latin typeface="Arial" pitchFamily="34" charset="0"/>
              </a:rPr>
              <a:pPr/>
              <a:t>1</a:t>
            </a:fld>
            <a:endParaRPr lang="en-GB">
              <a:latin typeface="Arial" pitchFamily="34" charset="0"/>
            </a:endParaRPr>
          </a:p>
        </p:txBody>
      </p:sp>
      <p:sp>
        <p:nvSpPr>
          <p:cNvPr id="11267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242888" y="5253038"/>
            <a:ext cx="6283325" cy="4051300"/>
          </a:xfrm>
          <a:noFill/>
        </p:spPr>
        <p:txBody>
          <a:bodyPr lIns="89384" tIns="44694" rIns="89384" bIns="44694"/>
          <a:lstStyle/>
          <a:p>
            <a:pPr eaLnBrk="1" hangingPunct="1"/>
            <a:endParaRPr lang="en-GB" smtClean="0">
              <a:latin typeface="Arial" pitchFamily="34" charset="0"/>
            </a:endParaRPr>
          </a:p>
        </p:txBody>
      </p:sp>
      <p:sp>
        <p:nvSpPr>
          <p:cNvPr id="11268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88" y="0"/>
            <a:ext cx="6696075" cy="5022850"/>
          </a:xfrm>
          <a:ln/>
        </p:spPr>
      </p:sp>
    </p:spTree>
    <p:extLst>
      <p:ext uri="{BB962C8B-B14F-4D97-AF65-F5344CB8AC3E}">
        <p14:creationId xmlns:p14="http://schemas.microsoft.com/office/powerpoint/2010/main" val="3673005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 bản chiếu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ề và Nộ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mtClean="0"/>
              <a:t>Bấm &amp; sửa kiểu tiêu đề</a:t>
            </a:r>
            <a:endParaRPr lang="en-US"/>
          </a:p>
        </p:txBody>
      </p:sp>
      <p:sp>
        <p:nvSpPr>
          <p:cNvPr id="3" name="Chỗ dành sẵn cho Nộ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 smtClean="0"/>
              <a:t>Bấm &amp; sửa kiểu tiêu đề</a:t>
            </a:r>
          </a:p>
          <a:p>
            <a:pPr lvl="1"/>
            <a:r>
              <a:rPr lang="vi-VN" smtClean="0"/>
              <a:t>Mức hai</a:t>
            </a:r>
          </a:p>
          <a:p>
            <a:pPr lvl="2"/>
            <a:r>
              <a:rPr lang="vi-VN" smtClean="0"/>
              <a:t>Mức ba</a:t>
            </a:r>
          </a:p>
          <a:p>
            <a:pPr lvl="3"/>
            <a:r>
              <a:rPr lang="vi-VN" smtClean="0"/>
              <a:t>Mức bốn</a:t>
            </a:r>
          </a:p>
          <a:p>
            <a:pPr lvl="4"/>
            <a:r>
              <a:rPr lang="vi-VN" smtClean="0"/>
              <a:t>Mức năm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Here comes your footer  </a:t>
            </a:r>
            <a:r>
              <a:rPr lang="de-DE">
                <a:sym typeface="Wingdings" pitchFamily="2" charset="2"/>
              </a:rPr>
              <a:t></a:t>
            </a:r>
            <a:r>
              <a:rPr lang="de-DE"/>
              <a:t>  Page </a:t>
            </a:r>
            <a:fld id="{1D437A68-E703-466B-85A0-753D77862FA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ầu trang của Phầ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vi-VN" smtClean="0"/>
              <a:t>Bấm &amp; sửa kiểu tiêu đề</a:t>
            </a:r>
            <a:endParaRPr lang="en-US"/>
          </a:p>
        </p:txBody>
      </p:sp>
      <p:sp>
        <p:nvSpPr>
          <p:cNvPr id="3" name="Chỗ dành sẵn cho Văn bả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vi-VN" smtClean="0"/>
              <a:t>Bấm &amp; sửa kiểu tiêu đề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Here comes your footer  </a:t>
            </a:r>
            <a:r>
              <a:rPr lang="de-DE">
                <a:sym typeface="Wingdings" pitchFamily="2" charset="2"/>
              </a:rPr>
              <a:t></a:t>
            </a:r>
            <a:r>
              <a:rPr lang="de-DE"/>
              <a:t>  Page </a:t>
            </a:r>
            <a:fld id="{0D0D72F0-7165-4984-AC72-519188B2AF8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ộ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mtClean="0"/>
              <a:t>Bấm &amp; sửa kiểu tiêu đề</a:t>
            </a:r>
            <a:endParaRPr lang="en-US"/>
          </a:p>
        </p:txBody>
      </p:sp>
      <p:sp>
        <p:nvSpPr>
          <p:cNvPr id="3" name="Chỗ dành sẵn cho Nội dung 2"/>
          <p:cNvSpPr>
            <a:spLocks noGrp="1"/>
          </p:cNvSpPr>
          <p:nvPr>
            <p:ph sz="half" idx="1"/>
          </p:nvPr>
        </p:nvSpPr>
        <p:spPr>
          <a:xfrm>
            <a:off x="319088" y="1374775"/>
            <a:ext cx="4186237" cy="3876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vi-VN" smtClean="0"/>
              <a:t>Bấm &amp; sửa kiểu tiêu đề</a:t>
            </a:r>
          </a:p>
          <a:p>
            <a:pPr lvl="1"/>
            <a:r>
              <a:rPr lang="vi-VN" smtClean="0"/>
              <a:t>Mức hai</a:t>
            </a:r>
          </a:p>
          <a:p>
            <a:pPr lvl="2"/>
            <a:r>
              <a:rPr lang="vi-VN" smtClean="0"/>
              <a:t>Mức ba</a:t>
            </a:r>
          </a:p>
          <a:p>
            <a:pPr lvl="3"/>
            <a:r>
              <a:rPr lang="vi-VN" smtClean="0"/>
              <a:t>Mức bốn</a:t>
            </a:r>
          </a:p>
          <a:p>
            <a:pPr lvl="4"/>
            <a:r>
              <a:rPr lang="vi-VN" smtClean="0"/>
              <a:t>Mức năm</a:t>
            </a:r>
            <a:endParaRPr lang="en-US"/>
          </a:p>
        </p:txBody>
      </p:sp>
      <p:sp>
        <p:nvSpPr>
          <p:cNvPr id="4" name="Chỗ dành sẵn cho Nội dung 3"/>
          <p:cNvSpPr>
            <a:spLocks noGrp="1"/>
          </p:cNvSpPr>
          <p:nvPr>
            <p:ph sz="half" idx="2"/>
          </p:nvPr>
        </p:nvSpPr>
        <p:spPr>
          <a:xfrm>
            <a:off x="4657725" y="1374775"/>
            <a:ext cx="4186238" cy="3876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vi-VN" smtClean="0"/>
              <a:t>Bấm &amp; sửa kiểu tiêu đề</a:t>
            </a:r>
          </a:p>
          <a:p>
            <a:pPr lvl="1"/>
            <a:r>
              <a:rPr lang="vi-VN" smtClean="0"/>
              <a:t>Mức hai</a:t>
            </a:r>
          </a:p>
          <a:p>
            <a:pPr lvl="2"/>
            <a:r>
              <a:rPr lang="vi-VN" smtClean="0"/>
              <a:t>Mức ba</a:t>
            </a:r>
          </a:p>
          <a:p>
            <a:pPr lvl="3"/>
            <a:r>
              <a:rPr lang="vi-VN" smtClean="0"/>
              <a:t>Mức bốn</a:t>
            </a:r>
          </a:p>
          <a:p>
            <a:pPr lvl="4"/>
            <a:r>
              <a:rPr lang="vi-VN" smtClean="0"/>
              <a:t>Mức năm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Here comes your footer  </a:t>
            </a:r>
            <a:r>
              <a:rPr lang="de-DE">
                <a:sym typeface="Wingdings" pitchFamily="2" charset="2"/>
              </a:rPr>
              <a:t></a:t>
            </a:r>
            <a:r>
              <a:rPr lang="de-DE"/>
              <a:t>  Page </a:t>
            </a:r>
            <a:fld id="{51D7F5EC-D112-4325-B184-13907574258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ép so sá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vi-VN" smtClean="0"/>
              <a:t>Bấm &amp; sửa kiểu tiêu đề</a:t>
            </a:r>
            <a:endParaRPr lang="en-US"/>
          </a:p>
        </p:txBody>
      </p:sp>
      <p:sp>
        <p:nvSpPr>
          <p:cNvPr id="3" name="Chỗ dành sẵn cho Văn bả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 smtClean="0"/>
              <a:t>Bấm &amp; sửa kiểu tiêu đề</a:t>
            </a:r>
          </a:p>
        </p:txBody>
      </p:sp>
      <p:sp>
        <p:nvSpPr>
          <p:cNvPr id="4" name="Chỗ dành sẵn cho Nội dung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vi-VN" smtClean="0"/>
              <a:t>Bấm &amp; sửa kiểu tiêu đề</a:t>
            </a:r>
          </a:p>
          <a:p>
            <a:pPr lvl="1"/>
            <a:r>
              <a:rPr lang="vi-VN" smtClean="0"/>
              <a:t>Mức hai</a:t>
            </a:r>
          </a:p>
          <a:p>
            <a:pPr lvl="2"/>
            <a:r>
              <a:rPr lang="vi-VN" smtClean="0"/>
              <a:t>Mức ba</a:t>
            </a:r>
          </a:p>
          <a:p>
            <a:pPr lvl="3"/>
            <a:r>
              <a:rPr lang="vi-VN" smtClean="0"/>
              <a:t>Mức bốn</a:t>
            </a:r>
          </a:p>
          <a:p>
            <a:pPr lvl="4"/>
            <a:r>
              <a:rPr lang="vi-VN" smtClean="0"/>
              <a:t>Mức năm</a:t>
            </a:r>
            <a:endParaRPr lang="en-US"/>
          </a:p>
        </p:txBody>
      </p:sp>
      <p:sp>
        <p:nvSpPr>
          <p:cNvPr id="5" name="Chỗ dành sẵn cho Văn bả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 smtClean="0"/>
              <a:t>Bấm &amp; sửa kiểu tiêu đề</a:t>
            </a:r>
          </a:p>
        </p:txBody>
      </p:sp>
      <p:sp>
        <p:nvSpPr>
          <p:cNvPr id="6" name="Chỗ dành sẵn cho Nội dung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vi-VN" smtClean="0"/>
              <a:t>Bấm &amp; sửa kiểu tiêu đề</a:t>
            </a:r>
          </a:p>
          <a:p>
            <a:pPr lvl="1"/>
            <a:r>
              <a:rPr lang="vi-VN" smtClean="0"/>
              <a:t>Mức hai</a:t>
            </a:r>
          </a:p>
          <a:p>
            <a:pPr lvl="2"/>
            <a:r>
              <a:rPr lang="vi-VN" smtClean="0"/>
              <a:t>Mức ba</a:t>
            </a:r>
          </a:p>
          <a:p>
            <a:pPr lvl="3"/>
            <a:r>
              <a:rPr lang="vi-VN" smtClean="0"/>
              <a:t>Mức bốn</a:t>
            </a:r>
          </a:p>
          <a:p>
            <a:pPr lvl="4"/>
            <a:r>
              <a:rPr lang="vi-VN" smtClean="0"/>
              <a:t>Mức năm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Here comes your footer  </a:t>
            </a:r>
            <a:r>
              <a:rPr lang="de-DE">
                <a:sym typeface="Wingdings" pitchFamily="2" charset="2"/>
              </a:rPr>
              <a:t></a:t>
            </a:r>
            <a:r>
              <a:rPr lang="de-DE"/>
              <a:t>  Page </a:t>
            </a:r>
            <a:fld id="{10B0BFCE-74AC-4EB7-961E-4DC11686CD4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ỉ 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mtClean="0"/>
              <a:t>Bấm &amp; sửa kiểu tiêu đề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Here comes your footer  </a:t>
            </a:r>
            <a:r>
              <a:rPr lang="de-DE">
                <a:sym typeface="Wingdings" pitchFamily="2" charset="2"/>
              </a:rPr>
              <a:t></a:t>
            </a:r>
            <a:r>
              <a:rPr lang="de-DE"/>
              <a:t>  Page </a:t>
            </a:r>
            <a:fld id="{A3DC13E8-224F-4A68-9084-F7A0DEF159D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ố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Here comes your footer  </a:t>
            </a:r>
            <a:r>
              <a:rPr lang="de-DE">
                <a:sym typeface="Wingdings" pitchFamily="2" charset="2"/>
              </a:rPr>
              <a:t></a:t>
            </a:r>
            <a:r>
              <a:rPr lang="de-DE"/>
              <a:t>  Page </a:t>
            </a:r>
            <a:fld id="{2BEDABA4-1336-442B-8D3E-B313EE2739C3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ội dung với Phụ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vi-VN" smtClean="0"/>
              <a:t>Bấm &amp; sửa kiểu tiêu đề</a:t>
            </a:r>
            <a:endParaRPr lang="en-US"/>
          </a:p>
        </p:txBody>
      </p:sp>
      <p:sp>
        <p:nvSpPr>
          <p:cNvPr id="3" name="Chỗ dành sẵn cho Nội dung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 smtClean="0"/>
              <a:t>Bấm &amp; sửa kiểu tiêu đề</a:t>
            </a:r>
          </a:p>
          <a:p>
            <a:pPr lvl="1"/>
            <a:r>
              <a:rPr lang="vi-VN" smtClean="0"/>
              <a:t>Mức hai</a:t>
            </a:r>
          </a:p>
          <a:p>
            <a:pPr lvl="2"/>
            <a:r>
              <a:rPr lang="vi-VN" smtClean="0"/>
              <a:t>Mức ba</a:t>
            </a:r>
          </a:p>
          <a:p>
            <a:pPr lvl="3"/>
            <a:r>
              <a:rPr lang="vi-VN" smtClean="0"/>
              <a:t>Mức bốn</a:t>
            </a:r>
          </a:p>
          <a:p>
            <a:pPr lvl="4"/>
            <a:r>
              <a:rPr lang="vi-VN" smtClean="0"/>
              <a:t>Mức năm</a:t>
            </a:r>
            <a:endParaRPr lang="en-US"/>
          </a:p>
        </p:txBody>
      </p:sp>
      <p:sp>
        <p:nvSpPr>
          <p:cNvPr id="4" name="Chỗ dành sẵn cho Văn bả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 smtClean="0"/>
              <a:t>Bấm &amp; sửa kiểu tiêu đề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Here comes your footer  </a:t>
            </a:r>
            <a:r>
              <a:rPr lang="de-DE">
                <a:sym typeface="Wingdings" pitchFamily="2" charset="2"/>
              </a:rPr>
              <a:t></a:t>
            </a:r>
            <a:r>
              <a:rPr lang="de-DE"/>
              <a:t>  Page </a:t>
            </a:r>
            <a:fld id="{BF74A30D-4AD8-4441-BFAF-34529C0AFA6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Ảnh với Phụ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vi-VN" smtClean="0"/>
              <a:t>Bấm &amp; sửa kiểu tiêu đề</a:t>
            </a:r>
            <a:endParaRPr lang="en-US"/>
          </a:p>
        </p:txBody>
      </p:sp>
      <p:sp>
        <p:nvSpPr>
          <p:cNvPr id="3" name="Chỗ dành sẵn cho Hình ảnh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Chỗ dành sẵn cho Văn bả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 smtClean="0"/>
              <a:t>Bấm &amp; sửa kiểu tiêu đề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Here comes your footer  </a:t>
            </a:r>
            <a:r>
              <a:rPr lang="de-DE">
                <a:sym typeface="Wingdings" pitchFamily="2" charset="2"/>
              </a:rPr>
              <a:t></a:t>
            </a:r>
            <a:r>
              <a:rPr lang="de-DE"/>
              <a:t>  Page </a:t>
            </a:r>
            <a:fld id="{2688673E-8629-435C-B6A9-35C28234F080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mtClean="0"/>
              <a:t>Bấm &amp; sửa kiểu tiêu đề</a:t>
            </a:r>
            <a:endParaRPr lang="en-US"/>
          </a:p>
        </p:txBody>
      </p:sp>
      <p:sp>
        <p:nvSpPr>
          <p:cNvPr id="3" name="Chỗ dành sẵn cho Văn bản Dọc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 smtClean="0"/>
              <a:t>Bấm &amp; sửa kiểu tiêu đề</a:t>
            </a:r>
          </a:p>
          <a:p>
            <a:pPr lvl="1"/>
            <a:r>
              <a:rPr lang="vi-VN" smtClean="0"/>
              <a:t>Mức hai</a:t>
            </a:r>
          </a:p>
          <a:p>
            <a:pPr lvl="2"/>
            <a:r>
              <a:rPr lang="vi-VN" smtClean="0"/>
              <a:t>Mức ba</a:t>
            </a:r>
          </a:p>
          <a:p>
            <a:pPr lvl="3"/>
            <a:r>
              <a:rPr lang="vi-VN" smtClean="0"/>
              <a:t>Mức bốn</a:t>
            </a:r>
          </a:p>
          <a:p>
            <a:pPr lvl="4"/>
            <a:r>
              <a:rPr lang="vi-VN" smtClean="0"/>
              <a:t>Mức năm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Here comes your footer  </a:t>
            </a:r>
            <a:r>
              <a:rPr lang="de-DE">
                <a:sym typeface="Wingdings" pitchFamily="2" charset="2"/>
              </a:rPr>
              <a:t></a:t>
            </a:r>
            <a:r>
              <a:rPr lang="de-DE"/>
              <a:t>  Page </a:t>
            </a:r>
            <a:fld id="{150FB75E-81F0-4B3B-8D2E-5F9DC943C583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Dọc 1"/>
          <p:cNvSpPr>
            <a:spLocks noGrp="1"/>
          </p:cNvSpPr>
          <p:nvPr>
            <p:ph type="title" orient="vert"/>
          </p:nvPr>
        </p:nvSpPr>
        <p:spPr>
          <a:xfrm>
            <a:off x="6711950" y="250825"/>
            <a:ext cx="2132013" cy="5000625"/>
          </a:xfrm>
        </p:spPr>
        <p:txBody>
          <a:bodyPr vert="eaVert"/>
          <a:lstStyle/>
          <a:p>
            <a:r>
              <a:rPr lang="vi-VN" smtClean="0"/>
              <a:t>Bấm &amp; sửa kiểu tiêu đề</a:t>
            </a:r>
            <a:endParaRPr lang="en-US"/>
          </a:p>
        </p:txBody>
      </p:sp>
      <p:sp>
        <p:nvSpPr>
          <p:cNvPr id="3" name="Chỗ dành sẵn cho Văn bản Dọc 2"/>
          <p:cNvSpPr>
            <a:spLocks noGrp="1"/>
          </p:cNvSpPr>
          <p:nvPr>
            <p:ph type="body" orient="vert" idx="1"/>
          </p:nvPr>
        </p:nvSpPr>
        <p:spPr>
          <a:xfrm>
            <a:off x="314325" y="250825"/>
            <a:ext cx="6245225" cy="5000625"/>
          </a:xfrm>
        </p:spPr>
        <p:txBody>
          <a:bodyPr vert="eaVert"/>
          <a:lstStyle/>
          <a:p>
            <a:pPr lvl="0"/>
            <a:r>
              <a:rPr lang="vi-VN" smtClean="0"/>
              <a:t>Bấm &amp; sửa kiểu tiêu đề</a:t>
            </a:r>
          </a:p>
          <a:p>
            <a:pPr lvl="1"/>
            <a:r>
              <a:rPr lang="vi-VN" smtClean="0"/>
              <a:t>Mức hai</a:t>
            </a:r>
          </a:p>
          <a:p>
            <a:pPr lvl="2"/>
            <a:r>
              <a:rPr lang="vi-VN" smtClean="0"/>
              <a:t>Mức ba</a:t>
            </a:r>
          </a:p>
          <a:p>
            <a:pPr lvl="3"/>
            <a:r>
              <a:rPr lang="vi-VN" smtClean="0"/>
              <a:t>Mức bốn</a:t>
            </a:r>
          </a:p>
          <a:p>
            <a:pPr lvl="4"/>
            <a:r>
              <a:rPr lang="vi-VN" smtClean="0"/>
              <a:t>Mức năm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Here comes your footer  </a:t>
            </a:r>
            <a:r>
              <a:rPr lang="de-DE">
                <a:sym typeface="Wingdings" pitchFamily="2" charset="2"/>
              </a:rPr>
              <a:t></a:t>
            </a:r>
            <a:r>
              <a:rPr lang="de-DE"/>
              <a:t>  Page </a:t>
            </a:r>
            <a:fld id="{427A01C3-1722-4739-A0FE-714AD893A92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14325" y="250825"/>
            <a:ext cx="851535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de-DE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9088" y="1374775"/>
            <a:ext cx="8524875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44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5750" y="6167438"/>
            <a:ext cx="3048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solidFill>
                  <a:srgbClr val="4F4F4F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de-DE"/>
              <a:t>Here comes your footer  </a:t>
            </a:r>
            <a:r>
              <a:rPr lang="de-DE">
                <a:sym typeface="Wingdings" pitchFamily="2" charset="2"/>
              </a:rPr>
              <a:t></a:t>
            </a:r>
            <a:r>
              <a:rPr lang="de-DE"/>
              <a:t>  Page </a:t>
            </a:r>
            <a:fld id="{123074D8-5AE3-4C96-9B91-3AA2AEBE64C9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med">
    <p:wipe dir="r"/>
  </p:transition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charset="0"/>
        </a:defRPr>
      </a:lvl9pPr>
    </p:titleStyle>
    <p:bodyStyle>
      <a:lvl1pPr marL="190500" indent="-1905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>
          <a:solidFill>
            <a:srgbClr val="FFFFFF"/>
          </a:solidFill>
          <a:latin typeface="+mn-lt"/>
          <a:ea typeface="+mn-ea"/>
          <a:cs typeface="+mn-cs"/>
        </a:defRPr>
      </a:lvl1pPr>
      <a:lvl2pPr marL="381000" indent="-18891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-"/>
        <a:defRPr>
          <a:solidFill>
            <a:srgbClr val="FFFFFF"/>
          </a:solidFill>
          <a:latin typeface="+mn-lt"/>
        </a:defRPr>
      </a:lvl2pPr>
      <a:lvl3pPr marL="561975" indent="-179388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-"/>
        <a:defRPr>
          <a:solidFill>
            <a:srgbClr val="FFFFFF"/>
          </a:solidFill>
          <a:latin typeface="+mn-lt"/>
        </a:defRPr>
      </a:lvl3pPr>
      <a:lvl4pPr marL="752475" indent="-18891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-"/>
        <a:defRPr>
          <a:solidFill>
            <a:srgbClr val="FFFFFF"/>
          </a:solidFill>
          <a:latin typeface="+mn-lt"/>
        </a:defRPr>
      </a:lvl4pPr>
      <a:lvl5pPr marL="962025" indent="-20796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>
          <a:solidFill>
            <a:srgbClr val="FFFFFF"/>
          </a:solidFill>
          <a:latin typeface="+mn-lt"/>
        </a:defRPr>
      </a:lvl5pPr>
      <a:lvl6pPr marL="1419225" indent="-207963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>
          <a:solidFill>
            <a:srgbClr val="FFFFFF"/>
          </a:solidFill>
          <a:latin typeface="+mn-lt"/>
        </a:defRPr>
      </a:lvl6pPr>
      <a:lvl7pPr marL="1876425" indent="-207963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>
          <a:solidFill>
            <a:srgbClr val="FFFFFF"/>
          </a:solidFill>
          <a:latin typeface="+mn-lt"/>
        </a:defRPr>
      </a:lvl7pPr>
      <a:lvl8pPr marL="2333625" indent="-207963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>
          <a:solidFill>
            <a:srgbClr val="FFFFFF"/>
          </a:solidFill>
          <a:latin typeface="+mn-lt"/>
        </a:defRPr>
      </a:lvl8pPr>
      <a:lvl9pPr marL="2790825" indent="-207963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>
          <a:solidFill>
            <a:srgbClr val="FFFFFF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uyenct@utc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0" y="2110965"/>
            <a:ext cx="9355873" cy="650875"/>
          </a:xfrm>
          <a:prstGeom prst="rect">
            <a:avLst/>
          </a:prstGeom>
        </p:spPr>
        <p:txBody>
          <a:bodyPr anchor="ctr"/>
          <a:lstStyle>
            <a:lvl1pPr marL="190500" indent="-1905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381000" indent="-188913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-"/>
              <a:defRPr>
                <a:solidFill>
                  <a:srgbClr val="FFFFFF"/>
                </a:solidFill>
                <a:latin typeface="+mn-lt"/>
              </a:defRPr>
            </a:lvl2pPr>
            <a:lvl3pPr marL="561975" indent="-179388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-"/>
              <a:defRPr>
                <a:solidFill>
                  <a:srgbClr val="FFFFFF"/>
                </a:solidFill>
                <a:latin typeface="+mn-lt"/>
              </a:defRPr>
            </a:lvl3pPr>
            <a:lvl4pPr marL="752475" indent="-188913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-"/>
              <a:defRPr>
                <a:solidFill>
                  <a:srgbClr val="FFFFFF"/>
                </a:solidFill>
                <a:latin typeface="+mn-lt"/>
              </a:defRPr>
            </a:lvl4pPr>
            <a:lvl5pPr marL="962025" indent="-207963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>
                <a:solidFill>
                  <a:srgbClr val="FFFFFF"/>
                </a:solidFill>
                <a:latin typeface="+mn-lt"/>
              </a:defRPr>
            </a:lvl5pPr>
            <a:lvl6pPr marL="1419225" indent="-207963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>
                <a:solidFill>
                  <a:srgbClr val="FFFFFF"/>
                </a:solidFill>
                <a:latin typeface="+mn-lt"/>
              </a:defRPr>
            </a:lvl6pPr>
            <a:lvl7pPr marL="1876425" indent="-207963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>
                <a:solidFill>
                  <a:srgbClr val="FFFFFF"/>
                </a:solidFill>
                <a:latin typeface="+mn-lt"/>
              </a:defRPr>
            </a:lvl7pPr>
            <a:lvl8pPr marL="2333625" indent="-207963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>
                <a:solidFill>
                  <a:srgbClr val="FFFFFF"/>
                </a:solidFill>
                <a:latin typeface="+mn-lt"/>
              </a:defRPr>
            </a:lvl8pPr>
            <a:lvl9pPr marL="2790825" indent="-207963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>
                <a:solidFill>
                  <a:srgbClr val="FFFFFF"/>
                </a:solidFill>
                <a:latin typeface="+mn-lt"/>
              </a:defRPr>
            </a:lvl9pPr>
          </a:lstStyle>
          <a:p>
            <a:pPr marL="0" indent="0" algn="ctr" eaLnBrk="1" hangingPunct="1">
              <a:buNone/>
              <a:defRPr/>
            </a:pPr>
            <a:r>
              <a:rPr lang="en-US" sz="3400" dirty="0" smtClean="0"/>
              <a:t>LISTVIEW CONTROL</a:t>
            </a:r>
            <a:endParaRPr lang="en-US" sz="3400" b="1" i="1" kern="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37115" y="3309259"/>
            <a:ext cx="27105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smtClean="0">
                <a:solidFill>
                  <a:srgbClr val="FFFFFF"/>
                </a:solidFill>
              </a:rPr>
              <a:t>TS. Cao </a:t>
            </a:r>
            <a:r>
              <a:rPr lang="en-US" sz="2200" dirty="0" err="1" smtClean="0">
                <a:solidFill>
                  <a:srgbClr val="FFFFFF"/>
                </a:solidFill>
              </a:rPr>
              <a:t>Thị</a:t>
            </a:r>
            <a:r>
              <a:rPr lang="en-US" sz="2200" dirty="0" smtClean="0">
                <a:solidFill>
                  <a:srgbClr val="FFFFFF"/>
                </a:solidFill>
              </a:rPr>
              <a:t> </a:t>
            </a:r>
            <a:r>
              <a:rPr lang="en-US" sz="2200" dirty="0" err="1" smtClean="0">
                <a:solidFill>
                  <a:srgbClr val="FFFFFF"/>
                </a:solidFill>
              </a:rPr>
              <a:t>Luyên</a:t>
            </a:r>
            <a:endParaRPr lang="en-US" sz="2200" dirty="0" smtClean="0">
              <a:solidFill>
                <a:srgbClr val="FFFFFF"/>
              </a:solidFill>
            </a:endParaRPr>
          </a:p>
          <a:p>
            <a:pPr algn="ctr"/>
            <a:r>
              <a:rPr lang="en-US" sz="2200" dirty="0" smtClean="0">
                <a:solidFill>
                  <a:srgbClr val="FFFFFF"/>
                </a:solidFill>
                <a:hlinkClick r:id="rId3"/>
              </a:rPr>
              <a:t>luyenct@utc.edu.vn</a:t>
            </a:r>
            <a:endParaRPr lang="en-US" sz="2200" dirty="0" smtClean="0">
              <a:solidFill>
                <a:srgbClr val="FFFFFF"/>
              </a:solidFill>
            </a:endParaRPr>
          </a:p>
          <a:p>
            <a:pPr algn="ctr"/>
            <a:r>
              <a:rPr lang="en-US" sz="2200" dirty="0" smtClean="0">
                <a:solidFill>
                  <a:srgbClr val="FFFFFF"/>
                </a:solidFill>
              </a:rPr>
              <a:t>0912403345</a:t>
            </a:r>
            <a:endParaRPr lang="en-US" sz="2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6"/>
          <p:cNvGrpSpPr>
            <a:grpSpLocks/>
          </p:cNvGrpSpPr>
          <p:nvPr/>
        </p:nvGrpSpPr>
        <p:grpSpPr bwMode="auto">
          <a:xfrm>
            <a:off x="722236" y="944768"/>
            <a:ext cx="8421764" cy="4896474"/>
            <a:chOff x="1298390" y="2007211"/>
            <a:chExt cx="3793975" cy="2197100"/>
          </a:xfrm>
        </p:grpSpPr>
        <p:pic>
          <p:nvPicPr>
            <p:cNvPr id="4103" name="Picture 6" descr="Blue_boxes_a"/>
            <p:cNvPicPr>
              <a:picLocks noChangeAspect="1" noChangeArrowheads="1"/>
            </p:cNvPicPr>
            <p:nvPr/>
          </p:nvPicPr>
          <p:blipFill>
            <a:blip r:embed="rId2"/>
            <a:srcRect r="64529"/>
            <a:stretch>
              <a:fillRect/>
            </a:stretch>
          </p:blipFill>
          <p:spPr bwMode="auto">
            <a:xfrm>
              <a:off x="1298390" y="2007211"/>
              <a:ext cx="3793975" cy="2197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05" name="Text Box 14"/>
            <p:cNvSpPr txBox="1">
              <a:spLocks noChangeArrowheads="1"/>
            </p:cNvSpPr>
            <p:nvPr/>
          </p:nvSpPr>
          <p:spPr bwMode="auto">
            <a:xfrm>
              <a:off x="1550423" y="2713484"/>
              <a:ext cx="3202523" cy="321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115888" indent="-115888" algn="ctr" eaLnBrk="1" hangingPunct="1">
                <a:buFont typeface="Wingdings" pitchFamily="2" charset="2"/>
                <a:buChar char="§"/>
              </a:pPr>
              <a:endParaRPr lang="en-US" i="1" dirty="0">
                <a:solidFill>
                  <a:srgbClr val="FFFFFF"/>
                </a:solidFill>
                <a:cs typeface="Arial" pitchFamily="34" charset="0"/>
              </a:endParaRPr>
            </a:p>
          </p:txBody>
        </p:sp>
      </p:grp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517525" y="247650"/>
            <a:ext cx="7906457" cy="650875"/>
          </a:xfrm>
          <a:prstGeom prst="rect">
            <a:avLst/>
          </a:prstGeom>
        </p:spPr>
        <p:txBody>
          <a:bodyPr anchor="ctr"/>
          <a:lstStyle>
            <a:lvl1pPr marL="190500" indent="-1905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381000" indent="-188913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-"/>
              <a:defRPr>
                <a:solidFill>
                  <a:srgbClr val="FFFFFF"/>
                </a:solidFill>
                <a:latin typeface="+mn-lt"/>
              </a:defRPr>
            </a:lvl2pPr>
            <a:lvl3pPr marL="561975" indent="-179388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-"/>
              <a:defRPr>
                <a:solidFill>
                  <a:srgbClr val="FFFFFF"/>
                </a:solidFill>
                <a:latin typeface="+mn-lt"/>
              </a:defRPr>
            </a:lvl3pPr>
            <a:lvl4pPr marL="752475" indent="-188913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-"/>
              <a:defRPr>
                <a:solidFill>
                  <a:srgbClr val="FFFFFF"/>
                </a:solidFill>
                <a:latin typeface="+mn-lt"/>
              </a:defRPr>
            </a:lvl4pPr>
            <a:lvl5pPr marL="962025" indent="-207963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>
                <a:solidFill>
                  <a:srgbClr val="FFFFFF"/>
                </a:solidFill>
                <a:latin typeface="+mn-lt"/>
              </a:defRPr>
            </a:lvl5pPr>
            <a:lvl6pPr marL="1419225" indent="-207963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>
                <a:solidFill>
                  <a:srgbClr val="FFFFFF"/>
                </a:solidFill>
                <a:latin typeface="+mn-lt"/>
              </a:defRPr>
            </a:lvl6pPr>
            <a:lvl7pPr marL="1876425" indent="-207963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>
                <a:solidFill>
                  <a:srgbClr val="FFFFFF"/>
                </a:solidFill>
                <a:latin typeface="+mn-lt"/>
              </a:defRPr>
            </a:lvl7pPr>
            <a:lvl8pPr marL="2333625" indent="-207963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>
                <a:solidFill>
                  <a:srgbClr val="FFFFFF"/>
                </a:solidFill>
                <a:latin typeface="+mn-lt"/>
              </a:defRPr>
            </a:lvl8pPr>
            <a:lvl9pPr marL="2790825" indent="-207963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>
                <a:solidFill>
                  <a:srgbClr val="FFFFFF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sz="3200" b="1" i="1" kern="0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Nội</a:t>
            </a:r>
            <a:r>
              <a:rPr lang="en-US" sz="3200" b="1" i="1" kern="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 dung</a:t>
            </a:r>
            <a:endParaRPr lang="en-US" sz="3200" b="1" i="1" kern="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58790" y="1500179"/>
            <a:ext cx="614865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Khái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niệm</a:t>
            </a:r>
            <a:endParaRPr lang="en-US" sz="2800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Thuộc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tính</a:t>
            </a:r>
            <a:endParaRPr lang="en-US" sz="2800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Phương </a:t>
            </a:r>
            <a:r>
              <a:rPr lang="en-US" sz="2800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thức</a:t>
            </a:r>
            <a:endParaRPr lang="en-US" sz="2800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Ví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dụ</a:t>
            </a:r>
            <a:endParaRPr lang="en-US" sz="2800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Bài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tập</a:t>
            </a:r>
            <a:endParaRPr lang="en-US" sz="2800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vi-VN" sz="28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517525" y="6236315"/>
            <a:ext cx="5001344" cy="320675"/>
          </a:xfrm>
          <a:prstGeom prst="rect">
            <a:avLst/>
          </a:prstGeom>
        </p:spPr>
        <p:txBody>
          <a:bodyPr/>
          <a:lstStyle/>
          <a:p>
            <a:r>
              <a:rPr lang="vi-VN" dirty="0" smtClean="0"/>
              <a:t>Chương </a:t>
            </a:r>
            <a:r>
              <a:rPr lang="en-US" dirty="0" smtClean="0"/>
              <a:t>3:</a:t>
            </a:r>
            <a:r>
              <a:rPr lang="vi-VN" dirty="0" smtClean="0"/>
              <a:t> hướng đối tượng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vi-VN" dirty="0" smtClean="0"/>
              <a:t> C#</a:t>
            </a:r>
            <a:endParaRPr lang="vi-VN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84263"/>
            <a:ext cx="3740727" cy="2157702"/>
          </a:xfrm>
        </p:spPr>
        <p:txBody>
          <a:bodyPr/>
          <a:lstStyle/>
          <a:p>
            <a:r>
              <a:rPr lang="en-US" sz="2400" b="1" dirty="0" err="1"/>
              <a:t>ListView</a:t>
            </a:r>
            <a:r>
              <a:rPr lang="en-US" sz="2400" b="1" dirty="0"/>
              <a:t> 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điều</a:t>
            </a:r>
            <a:r>
              <a:rPr lang="en-US" sz="2400" dirty="0"/>
              <a:t> </a:t>
            </a:r>
            <a:r>
              <a:rPr lang="en-US" sz="2400" dirty="0" err="1"/>
              <a:t>khiển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phép</a:t>
            </a:r>
            <a:r>
              <a:rPr lang="en-US" sz="2400" dirty="0"/>
              <a:t> </a:t>
            </a:r>
            <a:r>
              <a:rPr lang="en-US" sz="2400" dirty="0" err="1"/>
              <a:t>hiển</a:t>
            </a:r>
            <a:r>
              <a:rPr lang="en-US" sz="2400" dirty="0"/>
              <a:t> thị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/>
              <a:t>đối</a:t>
            </a:r>
            <a:r>
              <a:rPr lang="en-US" sz="2400" dirty="0"/>
              <a:t> </a:t>
            </a:r>
            <a:r>
              <a:rPr lang="en-US" sz="2400" dirty="0" err="1" smtClean="0"/>
              <a:t>tượng</a:t>
            </a:r>
            <a:r>
              <a:rPr lang="en-US" sz="2400" dirty="0"/>
              <a:t>,</a:t>
            </a:r>
            <a:r>
              <a:rPr lang="en-US" sz="2400" dirty="0" smtClean="0"/>
              <a:t> </a:t>
            </a:r>
            <a:r>
              <a:rPr lang="en-US" sz="2400" dirty="0" err="1" smtClean="0"/>
              <a:t>mỗi</a:t>
            </a:r>
            <a:r>
              <a:rPr lang="en-US" sz="2400" dirty="0" smtClean="0"/>
              <a:t> </a:t>
            </a:r>
            <a:r>
              <a:rPr lang="en-US" sz="2400" dirty="0" err="1"/>
              <a:t>đối</a:t>
            </a:r>
            <a:r>
              <a:rPr lang="en-US" sz="2400" dirty="0"/>
              <a:t> </a:t>
            </a:r>
            <a:r>
              <a:rPr lang="en-US" sz="2400" dirty="0" err="1"/>
              <a:t>tượng</a:t>
            </a:r>
            <a:r>
              <a:rPr lang="en-US" sz="2400" dirty="0"/>
              <a:t> </a:t>
            </a:r>
            <a:r>
              <a:rPr lang="en-US" sz="2400" dirty="0" err="1"/>
              <a:t>hiển</a:t>
            </a:r>
            <a:r>
              <a:rPr lang="en-US" sz="2400" dirty="0"/>
              <a:t> thị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ListView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gọi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b="1" dirty="0"/>
              <a:t>Item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45143-50F4-423F-B452-4B8810355DE3}" type="datetime1">
              <a:rPr lang="vi-VN" smtClean="0"/>
              <a:t>01/08/2023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2667000" y="6400800"/>
            <a:ext cx="3962400" cy="32067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Chương 4. Lập trình giao diện trong Windows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6934200" y="6400800"/>
            <a:ext cx="1981200" cy="320675"/>
          </a:xfrm>
          <a:prstGeom prst="rect">
            <a:avLst/>
          </a:prstGeom>
        </p:spPr>
        <p:txBody>
          <a:bodyPr/>
          <a:lstStyle/>
          <a:p>
            <a:fld id="{5AB95402-1E0D-474E-8D8C-CBE7F053639E}" type="slidenum">
              <a:rPr lang="vi-VN" smtClean="0"/>
              <a:pPr/>
              <a:t>3</a:t>
            </a:fld>
            <a:r>
              <a:rPr lang="vi-VN" smtClean="0"/>
              <a:t>/26</a:t>
            </a:r>
            <a:endParaRPr lang="vi-V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913" y="166760"/>
            <a:ext cx="4685640" cy="30752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2093" y="3206390"/>
            <a:ext cx="9052214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Item </a:t>
            </a:r>
            <a:r>
              <a:rPr lang="en-US" sz="2200" dirty="0" err="1">
                <a:solidFill>
                  <a:srgbClr val="FFFFFF"/>
                </a:solidFill>
              </a:rPr>
              <a:t>là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đối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tượng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được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tạo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từ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lớp</a:t>
            </a:r>
            <a:r>
              <a:rPr lang="en-US" sz="2200" dirty="0">
                <a:solidFill>
                  <a:srgbClr val="FFFFFF"/>
                </a:solidFill>
              </a:rPr>
              <a:t> </a:t>
            </a:r>
            <a:r>
              <a:rPr lang="en-US" sz="2200" b="1" i="1" dirty="0" err="1">
                <a:solidFill>
                  <a:srgbClr val="FFFFFF"/>
                </a:solidFill>
              </a:rPr>
              <a:t>ListViewItem</a:t>
            </a:r>
            <a:r>
              <a:rPr lang="en-US" sz="2200" dirty="0">
                <a:solidFill>
                  <a:srgbClr val="FFFFFF"/>
                </a:solidFill>
              </a:rPr>
              <a:t>. </a:t>
            </a:r>
          </a:p>
          <a:p>
            <a:r>
              <a:rPr lang="en-US" sz="2200" dirty="0" err="1">
                <a:solidFill>
                  <a:srgbClr val="FFFFFF"/>
                </a:solidFill>
              </a:rPr>
              <a:t>Mỗi</a:t>
            </a:r>
            <a:r>
              <a:rPr lang="en-US" sz="2200" dirty="0">
                <a:solidFill>
                  <a:srgbClr val="FFFFFF"/>
                </a:solidFill>
              </a:rPr>
              <a:t> Item </a:t>
            </a:r>
            <a:r>
              <a:rPr lang="en-US" sz="2200" dirty="0" err="1">
                <a:solidFill>
                  <a:srgbClr val="FFFFFF"/>
                </a:solidFill>
              </a:rPr>
              <a:t>có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thuộc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tính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b="1" i="1" dirty="0">
                <a:solidFill>
                  <a:srgbClr val="FFFFFF"/>
                </a:solidFill>
              </a:rPr>
              <a:t>Text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là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chuỗi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ký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tự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hiển</a:t>
            </a:r>
            <a:r>
              <a:rPr lang="en-US" sz="2200" dirty="0">
                <a:solidFill>
                  <a:srgbClr val="FFFFFF"/>
                </a:solidFill>
              </a:rPr>
              <a:t> thị ở </a:t>
            </a:r>
            <a:r>
              <a:rPr lang="en-US" sz="2200" dirty="0" err="1">
                <a:solidFill>
                  <a:srgbClr val="FFFFFF"/>
                </a:solidFill>
              </a:rPr>
              <a:t>cột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đầu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tiên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trong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ListView</a:t>
            </a:r>
            <a:r>
              <a:rPr lang="en-US" sz="2200" dirty="0">
                <a:solidFill>
                  <a:srgbClr val="FFFFFF"/>
                </a:solidFill>
              </a:rPr>
              <a:t>, </a:t>
            </a:r>
            <a:r>
              <a:rPr lang="en-US" sz="2200" dirty="0" err="1">
                <a:solidFill>
                  <a:srgbClr val="FFFFFF"/>
                </a:solidFill>
              </a:rPr>
              <a:t>mỗi</a:t>
            </a:r>
            <a:r>
              <a:rPr lang="en-US" sz="2200" dirty="0">
                <a:solidFill>
                  <a:srgbClr val="FFFFFF"/>
                </a:solidFill>
              </a:rPr>
              <a:t> Item </a:t>
            </a:r>
            <a:r>
              <a:rPr lang="en-US" sz="2200" dirty="0" err="1">
                <a:solidFill>
                  <a:srgbClr val="FFFFFF"/>
                </a:solidFill>
              </a:rPr>
              <a:t>có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các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b="1" i="1" dirty="0" err="1">
                <a:solidFill>
                  <a:srgbClr val="FFFFFF"/>
                </a:solidFill>
              </a:rPr>
              <a:t>SubItem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hiển</a:t>
            </a:r>
            <a:r>
              <a:rPr lang="en-US" sz="2200" dirty="0">
                <a:solidFill>
                  <a:srgbClr val="FFFFFF"/>
                </a:solidFill>
              </a:rPr>
              <a:t> thị ở </a:t>
            </a:r>
            <a:r>
              <a:rPr lang="en-US" sz="2200" dirty="0" err="1">
                <a:solidFill>
                  <a:srgbClr val="FFFFFF"/>
                </a:solidFill>
              </a:rPr>
              <a:t>các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cột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tiếp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theo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trong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ListView</a:t>
            </a:r>
            <a:endParaRPr lang="en-US" sz="2200" dirty="0">
              <a:solidFill>
                <a:srgbClr val="FFFFFF"/>
              </a:solidFill>
            </a:endParaRPr>
          </a:p>
          <a:p>
            <a:r>
              <a:rPr lang="en-US" sz="2200" b="1" i="1" dirty="0" err="1">
                <a:solidFill>
                  <a:srgbClr val="FFFFFF"/>
                </a:solidFill>
              </a:rPr>
              <a:t>ListViewItem</a:t>
            </a:r>
            <a:r>
              <a:rPr lang="en-US" sz="2200" dirty="0">
                <a:solidFill>
                  <a:srgbClr val="FFFFFF"/>
                </a:solidFill>
              </a:rPr>
              <a:t> item=new </a:t>
            </a:r>
            <a:r>
              <a:rPr lang="en-US" sz="2200" b="1" i="1" dirty="0" err="1">
                <a:solidFill>
                  <a:srgbClr val="FFFFFF"/>
                </a:solidFill>
              </a:rPr>
              <a:t>ListViewItem</a:t>
            </a:r>
            <a:r>
              <a:rPr lang="en-US" sz="2200" dirty="0">
                <a:solidFill>
                  <a:srgbClr val="FFFFFF"/>
                </a:solidFill>
              </a:rPr>
              <a:t>();</a:t>
            </a:r>
          </a:p>
          <a:p>
            <a:r>
              <a:rPr lang="en-US" sz="2200" dirty="0" err="1">
                <a:solidFill>
                  <a:srgbClr val="FFFFFF"/>
                </a:solidFill>
              </a:rPr>
              <a:t>item.text</a:t>
            </a:r>
            <a:r>
              <a:rPr lang="en-US" sz="2200" dirty="0">
                <a:solidFill>
                  <a:srgbClr val="FFFFFF"/>
                </a:solidFill>
              </a:rPr>
              <a:t>=“</a:t>
            </a:r>
            <a:r>
              <a:rPr lang="en-US" sz="2200" dirty="0" err="1">
                <a:solidFill>
                  <a:srgbClr val="FFFFFF"/>
                </a:solidFill>
              </a:rPr>
              <a:t>tên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cột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đầu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tiên</a:t>
            </a:r>
            <a:r>
              <a:rPr lang="en-US" sz="2200" dirty="0">
                <a:solidFill>
                  <a:srgbClr val="FFFFFF"/>
                </a:solidFill>
              </a:rPr>
              <a:t>”;</a:t>
            </a:r>
          </a:p>
          <a:p>
            <a:r>
              <a:rPr lang="en-US" sz="2200" dirty="0" err="1">
                <a:solidFill>
                  <a:srgbClr val="FFFFFF"/>
                </a:solidFill>
              </a:rPr>
              <a:t>item.SubItem.add</a:t>
            </a:r>
            <a:r>
              <a:rPr lang="en-US" sz="2200" dirty="0">
                <a:solidFill>
                  <a:srgbClr val="FFFFFF"/>
                </a:solidFill>
              </a:rPr>
              <a:t>(“</a:t>
            </a:r>
            <a:r>
              <a:rPr lang="en-US" sz="2200" dirty="0" err="1">
                <a:solidFill>
                  <a:srgbClr val="FFFFFF"/>
                </a:solidFill>
              </a:rPr>
              <a:t>tên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cột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tiếp</a:t>
            </a:r>
            <a:r>
              <a:rPr lang="en-US" sz="2200" dirty="0">
                <a:solidFill>
                  <a:srgbClr val="FFFFFF"/>
                </a:solidFill>
              </a:rPr>
              <a:t> </a:t>
            </a:r>
            <a:r>
              <a:rPr lang="en-US" sz="2200" dirty="0" err="1">
                <a:solidFill>
                  <a:srgbClr val="FFFFFF"/>
                </a:solidFill>
              </a:rPr>
              <a:t>theo</a:t>
            </a:r>
            <a:r>
              <a:rPr lang="en-US" sz="2200" dirty="0">
                <a:solidFill>
                  <a:srgbClr val="FFFFFF"/>
                </a:solidFill>
              </a:rPr>
              <a:t>”);</a:t>
            </a:r>
          </a:p>
        </p:txBody>
      </p:sp>
    </p:spTree>
    <p:extLst>
      <p:ext uri="{BB962C8B-B14F-4D97-AF65-F5344CB8AC3E}">
        <p14:creationId xmlns:p14="http://schemas.microsoft.com/office/powerpoint/2010/main" val="3942964712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088" y="129048"/>
            <a:ext cx="8515350" cy="600075"/>
          </a:xfrm>
        </p:spPr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trọng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45143-50F4-423F-B452-4B8810355DE3}" type="datetime1">
              <a:rPr lang="vi-VN" smtClean="0"/>
              <a:t>01/08/2023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2667000" y="6400800"/>
            <a:ext cx="3962400" cy="32067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Chương 4. Lập trình giao diện trong Windows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6934200" y="6400800"/>
            <a:ext cx="1981200" cy="320675"/>
          </a:xfrm>
          <a:prstGeom prst="rect">
            <a:avLst/>
          </a:prstGeom>
        </p:spPr>
        <p:txBody>
          <a:bodyPr/>
          <a:lstStyle/>
          <a:p>
            <a:fld id="{5AB95402-1E0D-474E-8D8C-CBE7F053639E}" type="slidenum">
              <a:rPr lang="vi-VN" smtClean="0"/>
              <a:pPr/>
              <a:t>4</a:t>
            </a:fld>
            <a:r>
              <a:rPr lang="vi-VN" smtClean="0"/>
              <a:t>/26</a:t>
            </a:r>
            <a:endParaRPr lang="vi-VN"/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4672213"/>
              </p:ext>
            </p:extLst>
          </p:nvPr>
        </p:nvGraphicFramePr>
        <p:xfrm>
          <a:off x="285750" y="723582"/>
          <a:ext cx="8524876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941">
                  <a:extLst>
                    <a:ext uri="{9D8B030D-6E8A-4147-A177-3AD203B41FA5}">
                      <a16:colId xmlns:a16="http://schemas.microsoft.com/office/drawing/2014/main" val="1418384693"/>
                    </a:ext>
                  </a:extLst>
                </a:gridCol>
                <a:gridCol w="6399935">
                  <a:extLst>
                    <a:ext uri="{9D8B030D-6E8A-4147-A177-3AD203B41FA5}">
                      <a16:colId xmlns:a16="http://schemas.microsoft.com/office/drawing/2014/main" val="1350032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b="1" dirty="0" err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Thuộc</a:t>
                      </a:r>
                      <a:r>
                        <a:rPr lang="en-US" sz="2200" b="1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b="1" dirty="0" err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endParaRPr lang="en-US" sz="2200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b="1" dirty="0" err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2200" b="1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b="1" dirty="0" err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tả</a:t>
                      </a:r>
                      <a:endParaRPr lang="en-US" sz="2200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1021543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View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Thuộc tính View quy định cách hiển thị các Item trong ListView. Thuộc tính View có 5 giá trị: Detail, LargeIcons, List, SmallIcons, Titles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241001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MultiSelect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True/ False: Cho phép hoặc không cho phép chọn một lúc nhiều Item trong ListView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1294387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FullRowSelect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FullRowSelect khi chọn dòng dữ liệu hightlighted cả dòng hay chỉ ô được chọn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133311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GridLines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GridLines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nếu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thiết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lâp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True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sẽ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hiển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thị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dòng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cột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dạng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lưới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thiết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lập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False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hiển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thị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dạng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lưới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1370520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31941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088" y="129048"/>
            <a:ext cx="8515350" cy="600075"/>
          </a:xfrm>
        </p:spPr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trọng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45143-50F4-423F-B452-4B8810355DE3}" type="datetime1">
              <a:rPr lang="vi-VN" smtClean="0"/>
              <a:t>01/08/2023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2667000" y="6400800"/>
            <a:ext cx="3962400" cy="32067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Chương 4. Lập trình giao diện trong Windows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6934200" y="6400800"/>
            <a:ext cx="1981200" cy="320675"/>
          </a:xfrm>
          <a:prstGeom prst="rect">
            <a:avLst/>
          </a:prstGeom>
        </p:spPr>
        <p:txBody>
          <a:bodyPr/>
          <a:lstStyle/>
          <a:p>
            <a:fld id="{5AB95402-1E0D-474E-8D8C-CBE7F053639E}" type="slidenum">
              <a:rPr lang="vi-VN" smtClean="0"/>
              <a:pPr/>
              <a:t>5</a:t>
            </a:fld>
            <a:r>
              <a:rPr lang="vi-VN" smtClean="0"/>
              <a:t>/26</a:t>
            </a:r>
            <a:endParaRPr lang="vi-VN"/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0957363"/>
              </p:ext>
            </p:extLst>
          </p:nvPr>
        </p:nvGraphicFramePr>
        <p:xfrm>
          <a:off x="285750" y="723582"/>
          <a:ext cx="8629650" cy="434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199">
                  <a:extLst>
                    <a:ext uri="{9D8B030D-6E8A-4147-A177-3AD203B41FA5}">
                      <a16:colId xmlns:a16="http://schemas.microsoft.com/office/drawing/2014/main" val="1418384693"/>
                    </a:ext>
                  </a:extLst>
                </a:gridCol>
                <a:gridCol w="5833451">
                  <a:extLst>
                    <a:ext uri="{9D8B030D-6E8A-4147-A177-3AD203B41FA5}">
                      <a16:colId xmlns:a16="http://schemas.microsoft.com/office/drawing/2014/main" val="1350032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b="1" dirty="0" err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Thuộc</a:t>
                      </a:r>
                      <a:r>
                        <a:rPr lang="en-US" sz="2200" b="1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b="1" dirty="0" err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endParaRPr lang="en-US" sz="2200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b="1" dirty="0" err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2200" b="1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b="1" dirty="0" err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tả</a:t>
                      </a:r>
                      <a:endParaRPr lang="en-US" sz="2200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1021543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SelectedItems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Trả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về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tập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Items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được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chọn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ListView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241001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LargeImageIcon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Gán đối tượng ImageList cho ListView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1294387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SmallImageIcon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Gán đối tượng ImageList cho ListView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133311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FocusedItem.Index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Trả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về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dòng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được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chọn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ListView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1370520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SelectedIndices.Count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Trả về số lượng Item được chọn trong ListView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3601999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SelectedIndices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Trả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về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danh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sách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mục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Item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được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chọn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2284251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Item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vi-VN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Trả về các Item chứa trong ListView. Một số phương thức và thuộc tính thường dùng của ListView.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1111030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641023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088" y="129048"/>
            <a:ext cx="8515350" cy="600075"/>
          </a:xfrm>
        </p:spPr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,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trọng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Item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45143-50F4-423F-B452-4B8810355DE3}" type="datetime1">
              <a:rPr lang="vi-VN" smtClean="0"/>
              <a:t>01/08/2023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2667000" y="6400800"/>
            <a:ext cx="3962400" cy="32067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Chương 4. Lập trình giao diện trong Windows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6934200" y="6400800"/>
            <a:ext cx="1981200" cy="320675"/>
          </a:xfrm>
          <a:prstGeom prst="rect">
            <a:avLst/>
          </a:prstGeom>
        </p:spPr>
        <p:txBody>
          <a:bodyPr/>
          <a:lstStyle/>
          <a:p>
            <a:fld id="{5AB95402-1E0D-474E-8D8C-CBE7F053639E}" type="slidenum">
              <a:rPr lang="vi-VN" smtClean="0"/>
              <a:pPr/>
              <a:t>6</a:t>
            </a:fld>
            <a:r>
              <a:rPr lang="vi-VN" smtClean="0"/>
              <a:t>/26</a:t>
            </a:r>
            <a:endParaRPr lang="vi-VN"/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2548081"/>
              </p:ext>
            </p:extLst>
          </p:nvPr>
        </p:nvGraphicFramePr>
        <p:xfrm>
          <a:off x="285750" y="723582"/>
          <a:ext cx="8524876" cy="5426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1418384693"/>
                    </a:ext>
                  </a:extLst>
                </a:gridCol>
                <a:gridCol w="5762626">
                  <a:extLst>
                    <a:ext uri="{9D8B030D-6E8A-4147-A177-3AD203B41FA5}">
                      <a16:colId xmlns:a16="http://schemas.microsoft.com/office/drawing/2014/main" val="1350032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b="1" dirty="0" err="1" smtClean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Thuộc</a:t>
                      </a:r>
                      <a:r>
                        <a:rPr lang="en-US" sz="2200" b="1" dirty="0" smtClean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b="1" dirty="0" err="1" smtClean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r>
                        <a:rPr lang="en-US" sz="2200" b="1" dirty="0" smtClean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200" b="1" baseline="0" dirty="0" smtClean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b="1" baseline="0" dirty="0" err="1" smtClean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2200" b="1" dirty="0" err="1" smtClean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hương</a:t>
                      </a:r>
                      <a:r>
                        <a:rPr lang="en-US" sz="2200" b="1" baseline="0" dirty="0" smtClean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b="1" baseline="0" dirty="0" err="1" smtClean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thức</a:t>
                      </a:r>
                      <a:endParaRPr lang="en-US" sz="2200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b="1" dirty="0" err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2200" b="1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b="1" dirty="0" err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tả</a:t>
                      </a:r>
                      <a:endParaRPr lang="en-US" sz="2200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1021543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dirty="0" smtClean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vi-VN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Đếm số lượng Item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241001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dirty="0" smtClean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Insert(</a:t>
                      </a:r>
                      <a:r>
                        <a:rPr lang="en-US" sz="2200" dirty="0" err="1" smtClean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I,Item</a:t>
                      </a:r>
                      <a:r>
                        <a:rPr lang="en-US" sz="2200" dirty="0" smtClean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Chèn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thêm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Item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mới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vào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vị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trí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1294387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dirty="0" smtClean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Add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Thêm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Item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vào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cuối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ListView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133311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Remove(&lt;Item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cần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xóa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&gt;)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Xóa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Item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khỏi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ListView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1370520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RemoveAt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Xóa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Item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khỏi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ListView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3601999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Contains(&lt;Item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cần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tìm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&gt;)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Trả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về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True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nếu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tìm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thấy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ListView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trả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về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False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nếu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ListView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2284251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IndexOf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(&lt;Item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cần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tìm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&gt;)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Nếu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ListView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thì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trả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về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item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tìm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thấy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ListView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nếu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tìm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thấy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sẽ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trả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về</a:t>
                      </a:r>
                      <a:r>
                        <a:rPr lang="en-US" sz="2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-1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1276040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358543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088" y="129048"/>
            <a:ext cx="8515350" cy="600075"/>
          </a:xfrm>
        </p:spPr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trọng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ListView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45143-50F4-423F-B452-4B8810355DE3}" type="datetime1">
              <a:rPr lang="vi-VN" smtClean="0"/>
              <a:t>01/08/2023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2667000" y="6400800"/>
            <a:ext cx="3962400" cy="32067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Chương 4. Lập trình giao diện trong Windows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6934200" y="6400800"/>
            <a:ext cx="1981200" cy="320675"/>
          </a:xfrm>
          <a:prstGeom prst="rect">
            <a:avLst/>
          </a:prstGeom>
        </p:spPr>
        <p:txBody>
          <a:bodyPr/>
          <a:lstStyle/>
          <a:p>
            <a:fld id="{5AB95402-1E0D-474E-8D8C-CBE7F053639E}" type="slidenum">
              <a:rPr lang="vi-VN" smtClean="0"/>
              <a:pPr/>
              <a:t>7</a:t>
            </a:fld>
            <a:r>
              <a:rPr lang="vi-VN" smtClean="0"/>
              <a:t>/26</a:t>
            </a:r>
            <a:endParaRPr lang="vi-VN"/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2061203"/>
              </p:ext>
            </p:extLst>
          </p:nvPr>
        </p:nvGraphicFramePr>
        <p:xfrm>
          <a:off x="285750" y="723582"/>
          <a:ext cx="8524876" cy="2729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1418384693"/>
                    </a:ext>
                  </a:extLst>
                </a:gridCol>
                <a:gridCol w="5762626">
                  <a:extLst>
                    <a:ext uri="{9D8B030D-6E8A-4147-A177-3AD203B41FA5}">
                      <a16:colId xmlns:a16="http://schemas.microsoft.com/office/drawing/2014/main" val="1350032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400" b="1" dirty="0" smtClean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Phương</a:t>
                      </a:r>
                      <a:r>
                        <a:rPr lang="en-US" sz="2400" b="1" baseline="0" dirty="0" smtClean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baseline="0" dirty="0" err="1" smtClean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thức</a:t>
                      </a:r>
                      <a:endParaRPr lang="en-US" sz="2400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400" b="1" dirty="0" err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2400" b="1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tả</a:t>
                      </a:r>
                      <a:endParaRPr lang="en-US" sz="2400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1021543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4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Clear()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4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Xóa tất cả các Item và Column trong ListView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241001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4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Sort()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4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Sắp xếp các Item trong ListView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1294387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4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GetItemAt(x, y)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4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Lấy</a:t>
                      </a:r>
                      <a:r>
                        <a:rPr lang="en-US" sz="24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Item </a:t>
                      </a:r>
                      <a:r>
                        <a:rPr lang="en-US" sz="24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tại</a:t>
                      </a:r>
                      <a:r>
                        <a:rPr lang="en-US" sz="24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vị</a:t>
                      </a:r>
                      <a:r>
                        <a:rPr lang="en-US" sz="24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trí</a:t>
                      </a:r>
                      <a:r>
                        <a:rPr lang="en-US" sz="24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tọa</a:t>
                      </a:r>
                      <a:r>
                        <a:rPr lang="en-US" sz="24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24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x </a:t>
                      </a:r>
                      <a:r>
                        <a:rPr lang="en-US" sz="24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24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y (</a:t>
                      </a:r>
                      <a:r>
                        <a:rPr lang="en-US" sz="2400" i="1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 </a:t>
                      </a:r>
                      <a:r>
                        <a:rPr lang="en-US" sz="2400" i="1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2400" i="1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y </a:t>
                      </a:r>
                      <a:r>
                        <a:rPr lang="en-US" sz="2400" i="1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2400" i="1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i="1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thể</a:t>
                      </a:r>
                      <a:r>
                        <a:rPr lang="en-US" sz="2400" i="1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i="1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lấy</a:t>
                      </a:r>
                      <a:r>
                        <a:rPr lang="en-US" sz="2400" i="1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i="1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được</a:t>
                      </a:r>
                      <a:r>
                        <a:rPr lang="en-US" sz="2400" i="1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i="1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2400" i="1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qua </a:t>
                      </a:r>
                      <a:r>
                        <a:rPr lang="en-US" sz="2400" i="1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sự</a:t>
                      </a:r>
                      <a:r>
                        <a:rPr lang="en-US" sz="2400" i="1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i="1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kiện</a:t>
                      </a:r>
                      <a:r>
                        <a:rPr lang="en-US" sz="2400" i="1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Click </a:t>
                      </a:r>
                      <a:r>
                        <a:rPr lang="en-US" sz="2400" i="1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chuột</a:t>
                      </a:r>
                      <a:r>
                        <a:rPr lang="en-US" sz="24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133311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0431364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276" y="312771"/>
            <a:ext cx="8515350" cy="600075"/>
          </a:xfrm>
        </p:spPr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trọng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ListView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45143-50F4-423F-B452-4B8810355DE3}" type="datetime1">
              <a:rPr lang="vi-VN" smtClean="0"/>
              <a:t>01/08/2023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2667000" y="6400800"/>
            <a:ext cx="3962400" cy="32067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Chương 4. Lập trình giao diện trong Windows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6934200" y="6400800"/>
            <a:ext cx="1981200" cy="320675"/>
          </a:xfrm>
          <a:prstGeom prst="rect">
            <a:avLst/>
          </a:prstGeom>
        </p:spPr>
        <p:txBody>
          <a:bodyPr/>
          <a:lstStyle/>
          <a:p>
            <a:fld id="{5AB95402-1E0D-474E-8D8C-CBE7F053639E}" type="slidenum">
              <a:rPr lang="vi-VN" smtClean="0"/>
              <a:pPr/>
              <a:t>8</a:t>
            </a:fld>
            <a:r>
              <a:rPr lang="vi-VN" smtClean="0"/>
              <a:t>/26</a:t>
            </a:r>
            <a:endParaRPr lang="vi-VN"/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3589515"/>
              </p:ext>
            </p:extLst>
          </p:nvPr>
        </p:nvGraphicFramePr>
        <p:xfrm>
          <a:off x="285750" y="1219233"/>
          <a:ext cx="8524876" cy="4191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1418384693"/>
                    </a:ext>
                  </a:extLst>
                </a:gridCol>
                <a:gridCol w="5762626">
                  <a:extLst>
                    <a:ext uri="{9D8B030D-6E8A-4147-A177-3AD203B41FA5}">
                      <a16:colId xmlns:a16="http://schemas.microsoft.com/office/drawing/2014/main" val="1350032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400" b="1" dirty="0" err="1" smtClean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Sự</a:t>
                      </a:r>
                      <a:r>
                        <a:rPr lang="en-US" sz="2400" b="1" baseline="0" dirty="0" smtClean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baseline="0" dirty="0" err="1" smtClean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kiện</a:t>
                      </a:r>
                      <a:endParaRPr lang="en-US" sz="2400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400" b="1" dirty="0" err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2400" b="1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tả</a:t>
                      </a:r>
                      <a:endParaRPr lang="en-US" sz="2400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1021543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SelectedIndexChanged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Sự kiện phát sinh khi có sự thay đổi về chỉ mục được chọn của Item trên ListView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241001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ItemSelectionChanged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Sự kiện phát sinh khi có sự thay đổi lựa chọn một Item trên ListView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1294387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ItemCheck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Xảy ra khi trạng thái chọn của Item thay đổi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133311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ColumnClick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Sự kiện phát sinh khi có sự thay đổi lựa chọn một Item trên ListView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3057158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MouseClick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500"/>
                        </a:spcAft>
                      </a:pP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Sự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kiện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phát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sinh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khi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nhấp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chuột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chọn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một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Item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2200" dirty="0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484848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ListView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75" marR="66675" marT="47625" marB="47625"/>
                </a:tc>
                <a:extLst>
                  <a:ext uri="{0D108BD9-81ED-4DB2-BD59-A6C34878D82A}">
                    <a16:rowId xmlns:a16="http://schemas.microsoft.com/office/drawing/2014/main" val="995182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590728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276" y="312771"/>
            <a:ext cx="8515350" cy="600075"/>
          </a:xfrm>
        </p:spPr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45143-50F4-423F-B452-4B8810355DE3}" type="datetime1">
              <a:rPr lang="vi-VN" smtClean="0"/>
              <a:t>01/08/2023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2667000" y="6400800"/>
            <a:ext cx="3962400" cy="320675"/>
          </a:xfrm>
          <a:prstGeom prst="rect">
            <a:avLst/>
          </a:prstGeom>
        </p:spPr>
        <p:txBody>
          <a:bodyPr/>
          <a:lstStyle/>
          <a:p>
            <a:r>
              <a:rPr lang="vi-VN" smtClean="0"/>
              <a:t>Chương 4. Lập trình giao diện trong Windows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6934200" y="6400800"/>
            <a:ext cx="1981200" cy="320675"/>
          </a:xfrm>
          <a:prstGeom prst="rect">
            <a:avLst/>
          </a:prstGeom>
        </p:spPr>
        <p:txBody>
          <a:bodyPr/>
          <a:lstStyle/>
          <a:p>
            <a:fld id="{5AB95402-1E0D-474E-8D8C-CBE7F053639E}" type="slidenum">
              <a:rPr lang="vi-VN" smtClean="0"/>
              <a:pPr/>
              <a:t>9</a:t>
            </a:fld>
            <a:r>
              <a:rPr lang="vi-VN" smtClean="0"/>
              <a:t>/26</a:t>
            </a:r>
            <a:endParaRPr lang="vi-VN"/>
          </a:p>
        </p:txBody>
      </p:sp>
      <p:pic>
        <p:nvPicPr>
          <p:cNvPr id="8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709" y="1015420"/>
            <a:ext cx="7276356" cy="467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766824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126134"/>
            <a:ext cx="8515350" cy="600075"/>
          </a:xfrm>
        </p:spPr>
        <p:txBody>
          <a:bodyPr/>
          <a:lstStyle/>
          <a:p>
            <a:r>
              <a:rPr lang="en-US" dirty="0" err="1" smtClean="0"/>
              <a:t>Nút</a:t>
            </a:r>
            <a:r>
              <a:rPr lang="en-US" dirty="0" smtClean="0"/>
              <a:t> </a:t>
            </a:r>
            <a:r>
              <a:rPr lang="en-US" dirty="0" err="1" smtClean="0"/>
              <a:t>thêm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342" y="726209"/>
            <a:ext cx="8524875" cy="3876675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/>
              <a:t>private void </a:t>
            </a:r>
            <a:r>
              <a:rPr lang="en-US" sz="2200" dirty="0" err="1"/>
              <a:t>Them_Click</a:t>
            </a:r>
            <a:r>
              <a:rPr lang="en-US" sz="2200" dirty="0"/>
              <a:t>(object sender, </a:t>
            </a:r>
            <a:r>
              <a:rPr lang="en-US" sz="2200" dirty="0" err="1"/>
              <a:t>EventArgs</a:t>
            </a:r>
            <a:r>
              <a:rPr lang="en-US" sz="2200" dirty="0"/>
              <a:t> e)</a:t>
            </a:r>
          </a:p>
          <a:p>
            <a:pPr marL="0" indent="0">
              <a:buNone/>
            </a:pPr>
            <a:r>
              <a:rPr lang="en-US" sz="2200" dirty="0"/>
              <a:t>        {</a:t>
            </a:r>
          </a:p>
          <a:p>
            <a:pPr marL="0" indent="0">
              <a:buNone/>
            </a:pPr>
            <a:r>
              <a:rPr lang="en-US" sz="2200" dirty="0"/>
              <a:t>            </a:t>
            </a:r>
            <a:r>
              <a:rPr lang="en-US" sz="2400" b="1" dirty="0" err="1"/>
              <a:t>ListViewItem</a:t>
            </a:r>
            <a:r>
              <a:rPr lang="en-US" sz="2400" b="1" dirty="0"/>
              <a:t> item = new </a:t>
            </a:r>
            <a:r>
              <a:rPr lang="en-US" sz="2400" b="1" dirty="0" err="1"/>
              <a:t>ListViewItem</a:t>
            </a:r>
            <a:r>
              <a:rPr lang="en-US" sz="2400" b="1" dirty="0"/>
              <a:t>();</a:t>
            </a:r>
          </a:p>
          <a:p>
            <a:pPr marL="0" indent="0">
              <a:buNone/>
            </a:pPr>
            <a:r>
              <a:rPr lang="en-US" sz="2200" dirty="0"/>
              <a:t>            </a:t>
            </a:r>
          </a:p>
          <a:p>
            <a:pPr marL="0" indent="0">
              <a:buNone/>
            </a:pPr>
            <a:r>
              <a:rPr lang="en-US" sz="2200" dirty="0"/>
              <a:t>            </a:t>
            </a:r>
            <a:r>
              <a:rPr lang="en-US" sz="2400" b="1" dirty="0" err="1"/>
              <a:t>item.Text</a:t>
            </a:r>
            <a:r>
              <a:rPr lang="en-US" sz="2400" b="1" dirty="0"/>
              <a:t> = </a:t>
            </a:r>
            <a:r>
              <a:rPr lang="en-US" sz="2400" b="1" dirty="0" err="1"/>
              <a:t>mahang.Text</a:t>
            </a:r>
            <a:r>
              <a:rPr lang="en-US" sz="2400" b="1" dirty="0"/>
              <a:t>;</a:t>
            </a:r>
          </a:p>
          <a:p>
            <a:pPr marL="0" indent="0">
              <a:buNone/>
            </a:pPr>
            <a:r>
              <a:rPr lang="en-US" sz="2200" dirty="0"/>
              <a:t>            </a:t>
            </a:r>
            <a:r>
              <a:rPr lang="en-US" sz="2400" b="1" dirty="0" err="1"/>
              <a:t>item.SubItems.Add</a:t>
            </a:r>
            <a:r>
              <a:rPr lang="en-US" sz="2400" b="1" dirty="0"/>
              <a:t>(</a:t>
            </a:r>
            <a:r>
              <a:rPr lang="en-US" sz="2400" b="1" dirty="0" err="1"/>
              <a:t>tenhang.Text</a:t>
            </a:r>
            <a:r>
              <a:rPr lang="en-US" sz="2400" b="1" dirty="0"/>
              <a:t>);</a:t>
            </a:r>
          </a:p>
          <a:p>
            <a:pPr marL="0" indent="0">
              <a:buNone/>
            </a:pPr>
            <a:r>
              <a:rPr lang="en-US" sz="2200" dirty="0"/>
              <a:t>            </a:t>
            </a:r>
            <a:r>
              <a:rPr lang="en-US" sz="2200" dirty="0" err="1"/>
              <a:t>item.SubItems.Add</a:t>
            </a:r>
            <a:r>
              <a:rPr lang="en-US" sz="2200" dirty="0"/>
              <a:t>(</a:t>
            </a:r>
            <a:r>
              <a:rPr lang="en-US" sz="2200" dirty="0" err="1"/>
              <a:t>soluong.Text</a:t>
            </a:r>
            <a:r>
              <a:rPr lang="en-US" sz="2200" dirty="0"/>
              <a:t> );</a:t>
            </a:r>
          </a:p>
          <a:p>
            <a:pPr marL="0" indent="0">
              <a:buNone/>
            </a:pPr>
            <a:r>
              <a:rPr lang="en-US" sz="2200" dirty="0"/>
              <a:t>            if (</a:t>
            </a:r>
            <a:r>
              <a:rPr lang="en-US" sz="2200" dirty="0" err="1"/>
              <a:t>ds.Contains</a:t>
            </a:r>
            <a:r>
              <a:rPr lang="en-US" sz="2200" dirty="0"/>
              <a:t>(</a:t>
            </a:r>
            <a:r>
              <a:rPr lang="en-US" sz="2200" dirty="0" err="1"/>
              <a:t>mahang.Text</a:t>
            </a:r>
            <a:r>
              <a:rPr lang="en-US" sz="2200" dirty="0"/>
              <a:t>) == true)</a:t>
            </a:r>
          </a:p>
          <a:p>
            <a:pPr marL="0" indent="0">
              <a:buNone/>
            </a:pPr>
            <a:r>
              <a:rPr lang="en-US" sz="2200" dirty="0"/>
              <a:t>                </a:t>
            </a:r>
            <a:r>
              <a:rPr lang="en-US" sz="2200" dirty="0" err="1"/>
              <a:t>MessageBox.Show</a:t>
            </a:r>
            <a:r>
              <a:rPr lang="en-US" sz="2200" dirty="0"/>
              <a:t>("ma nay da co");</a:t>
            </a:r>
          </a:p>
          <a:p>
            <a:pPr marL="0" indent="0">
              <a:buNone/>
            </a:pPr>
            <a:r>
              <a:rPr lang="en-US" sz="2200" dirty="0"/>
              <a:t>            else</a:t>
            </a:r>
          </a:p>
          <a:p>
            <a:pPr marL="0" indent="0">
              <a:buNone/>
            </a:pPr>
            <a:r>
              <a:rPr lang="en-US" sz="2200" dirty="0"/>
              <a:t>            { </a:t>
            </a:r>
            <a:r>
              <a:rPr lang="en-US" sz="2400" b="1" dirty="0"/>
              <a:t>listView1.Items.Add(item); </a:t>
            </a:r>
            <a:r>
              <a:rPr lang="en-US" sz="2400" b="1" dirty="0" err="1"/>
              <a:t>ds.Add</a:t>
            </a:r>
            <a:r>
              <a:rPr lang="en-US" sz="2400" b="1" dirty="0"/>
              <a:t>(</a:t>
            </a:r>
            <a:r>
              <a:rPr lang="en-US" sz="2400" b="1" dirty="0" err="1"/>
              <a:t>mahang.Text</a:t>
            </a:r>
            <a:r>
              <a:rPr lang="en-US" sz="2400" b="1" dirty="0"/>
              <a:t>); </a:t>
            </a:r>
            <a:r>
              <a:rPr lang="en-US" sz="2200" dirty="0"/>
              <a:t>}</a:t>
            </a:r>
          </a:p>
          <a:p>
            <a:pPr marL="0" indent="0">
              <a:buNone/>
            </a:pPr>
            <a:r>
              <a:rPr lang="en-US" sz="2200" dirty="0"/>
              <a:t>        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Here comes your footer  </a:t>
            </a:r>
            <a:r>
              <a:rPr lang="de-DE" smtClean="0">
                <a:sym typeface="Wingdings" pitchFamily="2" charset="2"/>
              </a:rPr>
              <a:t></a:t>
            </a:r>
            <a:r>
              <a:rPr lang="de-DE" smtClean="0"/>
              <a:t>  Page </a:t>
            </a:r>
            <a:fld id="{1D437A68-E703-466B-85A0-753D77862FA4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089999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Nút</a:t>
            </a:r>
            <a:r>
              <a:rPr lang="en-US" dirty="0" smtClean="0"/>
              <a:t> </a:t>
            </a:r>
            <a:r>
              <a:rPr lang="en-US" dirty="0" err="1" smtClean="0"/>
              <a:t>sửa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5" y="1111539"/>
            <a:ext cx="8524875" cy="3876675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/>
              <a:t>private void </a:t>
            </a:r>
            <a:r>
              <a:rPr lang="en-US" sz="2200" dirty="0" err="1"/>
              <a:t>Sua_Click</a:t>
            </a:r>
            <a:r>
              <a:rPr lang="en-US" sz="2200" dirty="0"/>
              <a:t>(object sender, </a:t>
            </a:r>
            <a:r>
              <a:rPr lang="en-US" sz="2200" dirty="0" err="1"/>
              <a:t>EventArgs</a:t>
            </a:r>
            <a:r>
              <a:rPr lang="en-US" sz="2200" dirty="0"/>
              <a:t> e)</a:t>
            </a:r>
          </a:p>
          <a:p>
            <a:pPr marL="0" indent="0">
              <a:buNone/>
            </a:pPr>
            <a:r>
              <a:rPr lang="en-US" sz="2200" dirty="0"/>
              <a:t>        {</a:t>
            </a:r>
          </a:p>
          <a:p>
            <a:pPr marL="0" indent="0">
              <a:buNone/>
            </a:pPr>
            <a:r>
              <a:rPr lang="en-US" sz="2200" dirty="0"/>
              <a:t>            </a:t>
            </a:r>
            <a:r>
              <a:rPr lang="en-US" sz="2400" b="1" dirty="0"/>
              <a:t>if(listView1 .</a:t>
            </a:r>
            <a:r>
              <a:rPr lang="en-US" sz="2400" b="1" dirty="0" err="1"/>
              <a:t>SelectedItems</a:t>
            </a:r>
            <a:r>
              <a:rPr lang="en-US" sz="2400" b="1" dirty="0"/>
              <a:t> .Count &gt;</a:t>
            </a:r>
            <a:r>
              <a:rPr lang="en-US" sz="2200" dirty="0"/>
              <a:t>0)</a:t>
            </a:r>
          </a:p>
          <a:p>
            <a:pPr marL="0" indent="0">
              <a:buNone/>
            </a:pPr>
            <a:r>
              <a:rPr lang="en-US" sz="2200" dirty="0"/>
              <a:t>            {</a:t>
            </a:r>
          </a:p>
          <a:p>
            <a:pPr marL="0" indent="0">
              <a:buNone/>
            </a:pPr>
            <a:r>
              <a:rPr lang="en-US" sz="2200" dirty="0"/>
              <a:t>                </a:t>
            </a:r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= </a:t>
            </a:r>
            <a:r>
              <a:rPr lang="en-US" sz="2400" b="1" dirty="0"/>
              <a:t>listView1.SelectedItems[0].Index </a:t>
            </a:r>
            <a:r>
              <a:rPr lang="en-US" sz="2200" dirty="0"/>
              <a:t>;</a:t>
            </a:r>
          </a:p>
          <a:p>
            <a:pPr marL="0" indent="0">
              <a:buNone/>
            </a:pPr>
            <a:r>
              <a:rPr lang="en-US" sz="2200" dirty="0"/>
              <a:t>                </a:t>
            </a:r>
            <a:r>
              <a:rPr lang="en-US" sz="2400" b="1" dirty="0"/>
              <a:t>listView1.Items[</a:t>
            </a:r>
            <a:r>
              <a:rPr lang="en-US" sz="2400" b="1" dirty="0" err="1"/>
              <a:t>i</a:t>
            </a:r>
            <a:r>
              <a:rPr lang="en-US" sz="2400" b="1" dirty="0"/>
              <a:t>].</a:t>
            </a:r>
            <a:r>
              <a:rPr lang="en-US" sz="2400" b="1" dirty="0" err="1"/>
              <a:t>SubItems</a:t>
            </a:r>
            <a:r>
              <a:rPr lang="en-US" sz="2400" b="1" dirty="0"/>
              <a:t>[0]. Text </a:t>
            </a:r>
            <a:r>
              <a:rPr lang="en-US" sz="2200" dirty="0"/>
              <a:t>= </a:t>
            </a:r>
            <a:r>
              <a:rPr lang="en-US" sz="2200" dirty="0" err="1"/>
              <a:t>mahang.Text</a:t>
            </a:r>
            <a:r>
              <a:rPr lang="en-US" sz="2200" dirty="0"/>
              <a:t>;</a:t>
            </a:r>
          </a:p>
          <a:p>
            <a:pPr marL="0" indent="0">
              <a:buNone/>
            </a:pPr>
            <a:r>
              <a:rPr lang="en-US" sz="2200" dirty="0"/>
              <a:t>                listView1.Items[</a:t>
            </a:r>
            <a:r>
              <a:rPr lang="en-US" sz="2200" dirty="0" err="1"/>
              <a:t>i</a:t>
            </a:r>
            <a:r>
              <a:rPr lang="en-US" sz="2200" dirty="0"/>
              <a:t>].</a:t>
            </a:r>
            <a:r>
              <a:rPr lang="en-US" sz="2200" dirty="0" err="1"/>
              <a:t>SubItems</a:t>
            </a:r>
            <a:r>
              <a:rPr lang="en-US" sz="2200" dirty="0"/>
              <a:t>[1].Text =</a:t>
            </a:r>
            <a:r>
              <a:rPr lang="en-US" sz="2200" dirty="0" err="1"/>
              <a:t>tenhang.Text</a:t>
            </a:r>
            <a:r>
              <a:rPr lang="en-US" sz="2200" dirty="0"/>
              <a:t>;</a:t>
            </a:r>
          </a:p>
          <a:p>
            <a:pPr marL="0" indent="0">
              <a:buNone/>
            </a:pPr>
            <a:r>
              <a:rPr lang="en-US" sz="2200" dirty="0"/>
              <a:t>                listView1.Items[</a:t>
            </a:r>
            <a:r>
              <a:rPr lang="en-US" sz="2200" dirty="0" err="1"/>
              <a:t>i</a:t>
            </a:r>
            <a:r>
              <a:rPr lang="en-US" sz="2200" dirty="0"/>
              <a:t>].</a:t>
            </a:r>
            <a:r>
              <a:rPr lang="en-US" sz="2200" dirty="0" err="1"/>
              <a:t>SubItems</a:t>
            </a:r>
            <a:r>
              <a:rPr lang="en-US" sz="2200" dirty="0"/>
              <a:t>[2].Text = </a:t>
            </a:r>
            <a:r>
              <a:rPr lang="en-US" sz="2200" dirty="0" err="1"/>
              <a:t>soluong.Text</a:t>
            </a:r>
            <a:r>
              <a:rPr lang="en-US" sz="2200" dirty="0"/>
              <a:t>;</a:t>
            </a:r>
          </a:p>
          <a:p>
            <a:pPr marL="0" indent="0">
              <a:buNone/>
            </a:pPr>
            <a:r>
              <a:rPr lang="en-US" sz="2200" dirty="0"/>
              <a:t>            }</a:t>
            </a:r>
          </a:p>
          <a:p>
            <a:pPr marL="0" indent="0">
              <a:buNone/>
            </a:pPr>
            <a:r>
              <a:rPr lang="en-US" sz="2200" dirty="0"/>
              <a:t>        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Here comes your footer  </a:t>
            </a:r>
            <a:r>
              <a:rPr lang="de-DE" smtClean="0">
                <a:sym typeface="Wingdings" pitchFamily="2" charset="2"/>
              </a:rPr>
              <a:t></a:t>
            </a:r>
            <a:r>
              <a:rPr lang="de-DE" smtClean="0"/>
              <a:t>  Page </a:t>
            </a:r>
            <a:fld id="{1D437A68-E703-466B-85A0-753D77862FA4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0343266"/>
      </p:ext>
    </p:extLst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Nút</a:t>
            </a:r>
            <a:r>
              <a:rPr lang="en-US" dirty="0" smtClean="0"/>
              <a:t> </a:t>
            </a:r>
            <a:r>
              <a:rPr lang="en-US" dirty="0" err="1" smtClean="0"/>
              <a:t>Xóa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5" y="1111539"/>
            <a:ext cx="8524875" cy="3876675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/>
              <a:t>private void </a:t>
            </a:r>
            <a:r>
              <a:rPr lang="en-US" sz="2200" dirty="0" err="1"/>
              <a:t>Xoa_Click</a:t>
            </a:r>
            <a:r>
              <a:rPr lang="en-US" sz="2200" dirty="0"/>
              <a:t>(object sender, </a:t>
            </a:r>
            <a:r>
              <a:rPr lang="en-US" sz="2200" dirty="0" err="1"/>
              <a:t>EventArgs</a:t>
            </a:r>
            <a:r>
              <a:rPr lang="en-US" sz="2200" dirty="0"/>
              <a:t> e)</a:t>
            </a:r>
          </a:p>
          <a:p>
            <a:pPr marL="0" indent="0">
              <a:buNone/>
            </a:pPr>
            <a:r>
              <a:rPr lang="en-US" sz="2200" dirty="0"/>
              <a:t>        {</a:t>
            </a:r>
          </a:p>
          <a:p>
            <a:pPr marL="0" indent="0">
              <a:buNone/>
            </a:pPr>
            <a:r>
              <a:rPr lang="en-US" sz="2200" dirty="0"/>
              <a:t>            if (listView1.SelectedItems.Count &gt; 0)</a:t>
            </a:r>
          </a:p>
          <a:p>
            <a:pPr marL="0" indent="0">
              <a:buNone/>
            </a:pPr>
            <a:r>
              <a:rPr lang="en-US" sz="2200" dirty="0"/>
              <a:t>            {</a:t>
            </a:r>
          </a:p>
          <a:p>
            <a:pPr marL="0" indent="0">
              <a:buNone/>
            </a:pPr>
            <a:r>
              <a:rPr lang="en-US" sz="2200" dirty="0"/>
              <a:t>                if (</a:t>
            </a:r>
            <a:r>
              <a:rPr lang="en-US" sz="2200" dirty="0" err="1"/>
              <a:t>DialogResult.OK</a:t>
            </a:r>
            <a:r>
              <a:rPr lang="en-US" sz="2200" dirty="0"/>
              <a:t> == </a:t>
            </a:r>
            <a:r>
              <a:rPr lang="en-US" sz="2200" dirty="0" err="1"/>
              <a:t>MessageBox.Show</a:t>
            </a:r>
            <a:r>
              <a:rPr lang="en-US" sz="2200" dirty="0"/>
              <a:t>("ban co muon </a:t>
            </a:r>
            <a:r>
              <a:rPr lang="en-US" sz="2200" dirty="0" err="1"/>
              <a:t>xoa</a:t>
            </a:r>
            <a:r>
              <a:rPr lang="en-US" sz="2200" dirty="0"/>
              <a:t> ", "</a:t>
            </a:r>
            <a:r>
              <a:rPr lang="en-US" sz="2200" dirty="0" err="1"/>
              <a:t>tb</a:t>
            </a:r>
            <a:r>
              <a:rPr lang="en-US" sz="2200" dirty="0"/>
              <a:t>", </a:t>
            </a:r>
            <a:r>
              <a:rPr lang="en-US" sz="2200" dirty="0" err="1"/>
              <a:t>MessageBoxButtons.OKCancel</a:t>
            </a:r>
            <a:r>
              <a:rPr lang="en-US" sz="2200" dirty="0"/>
              <a:t>))</a:t>
            </a:r>
          </a:p>
          <a:p>
            <a:pPr marL="0" indent="0">
              <a:buNone/>
            </a:pPr>
            <a:r>
              <a:rPr lang="en-US" sz="2200" dirty="0"/>
              <a:t>                {</a:t>
            </a:r>
          </a:p>
          <a:p>
            <a:pPr marL="0" indent="0">
              <a:buNone/>
            </a:pPr>
            <a:r>
              <a:rPr lang="en-US" sz="2200" dirty="0"/>
              <a:t>                    </a:t>
            </a:r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= listView1.SelectedItems[0].Index;</a:t>
            </a:r>
          </a:p>
          <a:p>
            <a:pPr marL="0" indent="0">
              <a:buNone/>
            </a:pPr>
            <a:r>
              <a:rPr lang="en-US" sz="2400" b="1" dirty="0"/>
              <a:t>                    listView1.Items.RemoveAt(</a:t>
            </a:r>
            <a:r>
              <a:rPr lang="en-US" sz="2400" b="1" dirty="0" err="1"/>
              <a:t>i</a:t>
            </a:r>
            <a:r>
              <a:rPr lang="en-US" sz="2400" b="1" dirty="0"/>
              <a:t>);</a:t>
            </a:r>
          </a:p>
          <a:p>
            <a:pPr marL="0" indent="0">
              <a:buNone/>
            </a:pPr>
            <a:r>
              <a:rPr lang="en-US" sz="2200" dirty="0"/>
              <a:t>                }</a:t>
            </a:r>
          </a:p>
          <a:p>
            <a:pPr marL="0" indent="0">
              <a:buNone/>
            </a:pPr>
            <a:r>
              <a:rPr lang="en-US" sz="2200" dirty="0" smtClean="0"/>
              <a:t>            </a:t>
            </a:r>
            <a:r>
              <a:rPr lang="en-US" sz="2200" dirty="0"/>
              <a:t>}</a:t>
            </a:r>
          </a:p>
          <a:p>
            <a:pPr marL="0" indent="0">
              <a:buNone/>
            </a:pPr>
            <a:r>
              <a:rPr lang="en-US" sz="2200" dirty="0"/>
              <a:t>        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Here comes your footer  </a:t>
            </a:r>
            <a:r>
              <a:rPr lang="de-DE" smtClean="0">
                <a:sym typeface="Wingdings" pitchFamily="2" charset="2"/>
              </a:rPr>
              <a:t></a:t>
            </a:r>
            <a:r>
              <a:rPr lang="de-DE" smtClean="0"/>
              <a:t>  Page </a:t>
            </a:r>
            <a:fld id="{1D437A68-E703-466B-85A0-753D77862FA4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1560608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4" y="250825"/>
            <a:ext cx="8829675" cy="600075"/>
          </a:xfrm>
        </p:spPr>
        <p:txBody>
          <a:bodyPr/>
          <a:lstStyle/>
          <a:p>
            <a:r>
              <a:rPr lang="en-US" dirty="0" err="1" smtClean="0"/>
              <a:t>Hiển</a:t>
            </a:r>
            <a:r>
              <a:rPr lang="en-US" dirty="0" smtClean="0"/>
              <a:t> thị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 </a:t>
            </a:r>
            <a:r>
              <a:rPr lang="en-US" dirty="0" err="1" smtClean="0"/>
              <a:t>lựa</a:t>
            </a:r>
            <a:r>
              <a:rPr lang="en-US" dirty="0" smtClean="0"/>
              <a:t> chon </a:t>
            </a:r>
            <a:r>
              <a:rPr lang="en-US" dirty="0" err="1" smtClean="0"/>
              <a:t>listview</a:t>
            </a:r>
            <a:r>
              <a:rPr lang="en-US" dirty="0" smtClean="0"/>
              <a:t> item </a:t>
            </a:r>
            <a:r>
              <a:rPr lang="en-US" dirty="0" err="1" smtClean="0"/>
              <a:t>lên</a:t>
            </a:r>
            <a:r>
              <a:rPr lang="en-US" dirty="0" smtClean="0"/>
              <a:t> textbox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4" y="850900"/>
            <a:ext cx="8524875" cy="3876675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/>
              <a:t>private void listView1_</a:t>
            </a:r>
            <a:r>
              <a:rPr lang="en-US" sz="2400" b="1" dirty="0"/>
              <a:t>SelectedIndexChanged</a:t>
            </a:r>
            <a:r>
              <a:rPr lang="en-US" sz="2200" dirty="0"/>
              <a:t>(object sender, </a:t>
            </a:r>
            <a:r>
              <a:rPr lang="en-US" sz="2200" dirty="0" err="1"/>
              <a:t>EventArgs</a:t>
            </a:r>
            <a:r>
              <a:rPr lang="en-US" sz="2200" dirty="0"/>
              <a:t> e)</a:t>
            </a:r>
          </a:p>
          <a:p>
            <a:pPr marL="0" indent="0">
              <a:buNone/>
            </a:pPr>
            <a:r>
              <a:rPr lang="en-US" sz="2200" dirty="0"/>
              <a:t>        {</a:t>
            </a:r>
          </a:p>
          <a:p>
            <a:pPr marL="0" indent="0">
              <a:buNone/>
            </a:pPr>
            <a:r>
              <a:rPr lang="en-US" sz="2200" dirty="0"/>
              <a:t>            </a:t>
            </a:r>
            <a:r>
              <a:rPr lang="en-US" sz="2200" dirty="0" err="1"/>
              <a:t>ListViewItem</a:t>
            </a:r>
            <a:r>
              <a:rPr lang="en-US" sz="2200" dirty="0"/>
              <a:t> ls = new </a:t>
            </a:r>
            <a:r>
              <a:rPr lang="en-US" sz="2200" dirty="0" err="1"/>
              <a:t>ListViewItem</a:t>
            </a:r>
            <a:r>
              <a:rPr lang="en-US" sz="2200" dirty="0"/>
              <a:t>();</a:t>
            </a:r>
          </a:p>
          <a:p>
            <a:pPr marL="0" indent="0">
              <a:buNone/>
            </a:pPr>
            <a:r>
              <a:rPr lang="en-US" sz="2200" dirty="0"/>
              <a:t>            if (listView1.SelectedItems.Count &gt; 0)</a:t>
            </a:r>
          </a:p>
          <a:p>
            <a:pPr marL="0" indent="0">
              <a:buNone/>
            </a:pPr>
            <a:r>
              <a:rPr lang="en-US" sz="2200" dirty="0"/>
              <a:t>            {</a:t>
            </a:r>
          </a:p>
          <a:p>
            <a:pPr marL="0" indent="0">
              <a:buNone/>
            </a:pPr>
            <a:r>
              <a:rPr lang="en-US" sz="2200" dirty="0"/>
              <a:t>                ls = listView1.SelectedItems[0];</a:t>
            </a:r>
          </a:p>
          <a:p>
            <a:pPr marL="0" indent="0">
              <a:buNone/>
            </a:pPr>
            <a:r>
              <a:rPr lang="en-US" sz="2200" dirty="0"/>
              <a:t>                </a:t>
            </a:r>
            <a:r>
              <a:rPr lang="en-US" sz="2200" dirty="0" err="1"/>
              <a:t>mahang.Text</a:t>
            </a:r>
            <a:r>
              <a:rPr lang="en-US" sz="2200" dirty="0"/>
              <a:t> = </a:t>
            </a:r>
            <a:r>
              <a:rPr lang="en-US" sz="2200" dirty="0" err="1"/>
              <a:t>ls.Text</a:t>
            </a:r>
            <a:r>
              <a:rPr lang="en-US" sz="2200" dirty="0"/>
              <a:t>;</a:t>
            </a:r>
          </a:p>
          <a:p>
            <a:pPr marL="0" indent="0">
              <a:buNone/>
            </a:pPr>
            <a:r>
              <a:rPr lang="en-US" sz="2200" dirty="0"/>
              <a:t>                </a:t>
            </a:r>
            <a:r>
              <a:rPr lang="en-US" sz="2200" dirty="0" err="1"/>
              <a:t>tenhang.Text</a:t>
            </a:r>
            <a:r>
              <a:rPr lang="en-US" sz="2200" dirty="0"/>
              <a:t> = </a:t>
            </a:r>
            <a:r>
              <a:rPr lang="en-US" sz="2200" dirty="0" err="1"/>
              <a:t>ls.SubItems</a:t>
            </a:r>
            <a:r>
              <a:rPr lang="en-US" sz="2200" dirty="0"/>
              <a:t>[1].Text;</a:t>
            </a:r>
          </a:p>
          <a:p>
            <a:pPr marL="0" indent="0">
              <a:buNone/>
            </a:pPr>
            <a:r>
              <a:rPr lang="en-US" sz="2200" dirty="0"/>
              <a:t>                </a:t>
            </a:r>
            <a:r>
              <a:rPr lang="en-US" sz="2200" dirty="0" err="1"/>
              <a:t>soluong.Text</a:t>
            </a:r>
            <a:r>
              <a:rPr lang="en-US" sz="2200" dirty="0"/>
              <a:t> = </a:t>
            </a:r>
            <a:r>
              <a:rPr lang="en-US" sz="2200" dirty="0" err="1"/>
              <a:t>ls.SubItems</a:t>
            </a:r>
            <a:r>
              <a:rPr lang="en-US" sz="2200" dirty="0"/>
              <a:t>[2].Text;</a:t>
            </a:r>
          </a:p>
          <a:p>
            <a:pPr marL="0" indent="0">
              <a:buNone/>
            </a:pPr>
            <a:r>
              <a:rPr lang="en-US" sz="2200" dirty="0"/>
              <a:t>            }</a:t>
            </a:r>
          </a:p>
          <a:p>
            <a:pPr marL="0" indent="0">
              <a:buNone/>
            </a:pPr>
            <a:r>
              <a:rPr lang="en-US" sz="2200" dirty="0"/>
              <a:t>            else </a:t>
            </a:r>
            <a:r>
              <a:rPr lang="en-US" sz="2200" dirty="0" err="1"/>
              <a:t>MessageBox.Show</a:t>
            </a:r>
            <a:r>
              <a:rPr lang="en-US" sz="2200" dirty="0"/>
              <a:t>("hay chon dong");</a:t>
            </a:r>
          </a:p>
          <a:p>
            <a:pPr marL="0" indent="0">
              <a:buNone/>
            </a:pPr>
            <a:r>
              <a:rPr lang="en-US" sz="2200" dirty="0"/>
              <a:t>        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Here comes your footer  </a:t>
            </a:r>
            <a:r>
              <a:rPr lang="de-DE" smtClean="0">
                <a:sym typeface="Wingdings" pitchFamily="2" charset="2"/>
              </a:rPr>
              <a:t></a:t>
            </a:r>
            <a:r>
              <a:rPr lang="de-DE" smtClean="0"/>
              <a:t>  Page </a:t>
            </a:r>
            <a:fld id="{1D437A68-E703-466B-85A0-753D77862FA4}" type="slidenum">
              <a:rPr lang="de-DE" smtClean="0"/>
              <a:pPr>
                <a:defRPr/>
              </a:pPr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9236426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tập1: </a:t>
            </a:r>
            <a:r>
              <a:rPr lang="en-US" dirty="0" err="1" smtClean="0"/>
              <a:t>hãy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ListView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diện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form </a:t>
            </a:r>
            <a:r>
              <a:rPr lang="en-US" dirty="0" err="1" smtClean="0"/>
              <a:t>sau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Here comes your footer  </a:t>
            </a:r>
            <a:r>
              <a:rPr lang="de-DE" smtClean="0">
                <a:sym typeface="Wingdings" pitchFamily="2" charset="2"/>
              </a:rPr>
              <a:t></a:t>
            </a:r>
            <a:r>
              <a:rPr lang="de-DE" smtClean="0"/>
              <a:t>  Page </a:t>
            </a:r>
            <a:fld id="{1D437A68-E703-466B-85A0-753D77862FA4}" type="slidenum">
              <a:rPr lang="de-DE" smtClean="0"/>
              <a:pPr>
                <a:defRPr/>
              </a:pPr>
              <a:t>14</a:t>
            </a:fld>
            <a:endParaRPr lang="de-DE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344" y="1186693"/>
            <a:ext cx="6663701" cy="443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284994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BT2:Sử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ListView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/>
              <a:t> </a:t>
            </a:r>
            <a:r>
              <a:rPr lang="en-US" dirty="0" smtClean="0"/>
              <a:t>form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sz="2000" i="1" dirty="0" smtClean="0"/>
              <a:t>(</a:t>
            </a:r>
            <a:r>
              <a:rPr lang="en-US" sz="2000" i="1" dirty="0" err="1" smtClean="0"/>
              <a:t>yc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trong</a:t>
            </a:r>
            <a:r>
              <a:rPr lang="en-US" sz="2000" i="1" dirty="0" smtClean="0"/>
              <a:t> BT4 </a:t>
            </a:r>
            <a:r>
              <a:rPr lang="en-US" sz="2000" i="1" dirty="0" err="1" smtClean="0"/>
              <a:t>trong</a:t>
            </a:r>
            <a:r>
              <a:rPr lang="en-US" sz="2000" i="1" dirty="0" smtClean="0"/>
              <a:t> file 14 </a:t>
            </a:r>
            <a:r>
              <a:rPr lang="en-US" sz="2000" i="1" dirty="0" err="1" smtClean="0"/>
              <a:t>bài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tập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cơ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bản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trong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Winform</a:t>
            </a:r>
            <a:r>
              <a:rPr lang="en-US" sz="2000" i="1" dirty="0" smtClean="0"/>
              <a:t>)</a:t>
            </a:r>
            <a:endParaRPr lang="en-US" sz="20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Here comes your footer  </a:t>
            </a:r>
            <a:r>
              <a:rPr lang="de-DE" smtClean="0">
                <a:sym typeface="Wingdings" pitchFamily="2" charset="2"/>
              </a:rPr>
              <a:t></a:t>
            </a:r>
            <a:r>
              <a:rPr lang="de-DE" smtClean="0"/>
              <a:t>  Page </a:t>
            </a:r>
            <a:fld id="{1D437A68-E703-466B-85A0-753D77862FA4}" type="slidenum">
              <a:rPr lang="de-DE" smtClean="0"/>
              <a:pPr>
                <a:defRPr/>
              </a:pPr>
              <a:t>15</a:t>
            </a:fld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27" y="1134148"/>
            <a:ext cx="8837902" cy="543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487931"/>
      </p:ext>
    </p:extLst>
  </p:cSld>
  <p:clrMapOvr>
    <a:masterClrMapping/>
  </p:clrMapOvr>
  <p:transition spd="med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KE-OFF DISPLAYTYPE" val="0"/>
</p:tagLst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254430"/>
      </a:lt1>
      <a:dk2>
        <a:srgbClr val="F49B17"/>
      </a:dk2>
      <a:lt2>
        <a:srgbClr val="B5412C"/>
      </a:lt2>
      <a:accent1>
        <a:srgbClr val="496954"/>
      </a:accent1>
      <a:accent2>
        <a:srgbClr val="658570"/>
      </a:accent2>
      <a:accent3>
        <a:srgbClr val="ACB0AD"/>
      </a:accent3>
      <a:accent4>
        <a:srgbClr val="000000"/>
      </a:accent4>
      <a:accent5>
        <a:srgbClr val="B1B9B3"/>
      </a:accent5>
      <a:accent6>
        <a:srgbClr val="5B7865"/>
      </a:accent6>
      <a:hlink>
        <a:srgbClr val="9EBEA9"/>
      </a:hlink>
      <a:folHlink>
        <a:srgbClr val="CAEAD5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Văn phò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F49B17"/>
        </a:dk2>
        <a:lt2>
          <a:srgbClr val="B5412C"/>
        </a:lt2>
        <a:accent1>
          <a:srgbClr val="496954"/>
        </a:accent1>
        <a:accent2>
          <a:srgbClr val="658570"/>
        </a:accent2>
        <a:accent3>
          <a:srgbClr val="FFFFFF"/>
        </a:accent3>
        <a:accent4>
          <a:srgbClr val="000000"/>
        </a:accent4>
        <a:accent5>
          <a:srgbClr val="B1B9B3"/>
        </a:accent5>
        <a:accent6>
          <a:srgbClr val="5B7865"/>
        </a:accent6>
        <a:hlink>
          <a:srgbClr val="9EBEA9"/>
        </a:hlink>
        <a:folHlink>
          <a:srgbClr val="CAEAD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254430"/>
        </a:lt1>
        <a:dk2>
          <a:srgbClr val="F49B17"/>
        </a:dk2>
        <a:lt2>
          <a:srgbClr val="B5412C"/>
        </a:lt2>
        <a:accent1>
          <a:srgbClr val="496954"/>
        </a:accent1>
        <a:accent2>
          <a:srgbClr val="658570"/>
        </a:accent2>
        <a:accent3>
          <a:srgbClr val="ACB0AD"/>
        </a:accent3>
        <a:accent4>
          <a:srgbClr val="000000"/>
        </a:accent4>
        <a:accent5>
          <a:srgbClr val="B1B9B3"/>
        </a:accent5>
        <a:accent6>
          <a:srgbClr val="5B7865"/>
        </a:accent6>
        <a:hlink>
          <a:srgbClr val="9EBEA9"/>
        </a:hlink>
        <a:folHlink>
          <a:srgbClr val="CAEAD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hủ đề của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Văn phòng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ăn phò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ủ đề của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Văn phòng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ăn phò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1449</TotalTime>
  <Words>890</Words>
  <Application>Microsoft Office PowerPoint</Application>
  <PresentationFormat>On-screen Show (4:3)</PresentationFormat>
  <Paragraphs>165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Standarddesign</vt:lpstr>
      <vt:lpstr>PowerPoint Presentation</vt:lpstr>
      <vt:lpstr>PowerPoint Presentation</vt:lpstr>
      <vt:lpstr>Khái niệm</vt:lpstr>
      <vt:lpstr>Các thuộc tính quan trọng</vt:lpstr>
      <vt:lpstr>Các thuộc tính quan trọng</vt:lpstr>
      <vt:lpstr>Các thuộc tính, phương thức quan trọng của Item</vt:lpstr>
      <vt:lpstr>Các phương thức quan trọng của ListView</vt:lpstr>
      <vt:lpstr>Các sự kiện quan trọng của ListView</vt:lpstr>
      <vt:lpstr>Ví dụ</vt:lpstr>
      <vt:lpstr>Nút thêm</vt:lpstr>
      <vt:lpstr>Nút sửa</vt:lpstr>
      <vt:lpstr>Nút Xóa</vt:lpstr>
      <vt:lpstr>Hiển thị thay đổi lựa chon listview item lên textbox</vt:lpstr>
      <vt:lpstr>Bài tập1: hãy sử dụng điều khiển ListView để tổ chức giao diện cho form sau:</vt:lpstr>
      <vt:lpstr>BT2:Sử dụng ListView thực hiện form sau (yc trong BT4 trong file 14 bài tập cơ bản trong Winform)</vt:lpstr>
    </vt:vector>
  </TitlesOfParts>
  <Company>PresentationPoint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chalkboard</dc:title>
  <dc:creator>PresentationPoint;CTLUYEN</dc:creator>
  <cp:lastModifiedBy>Nguyen Xuan Sinh</cp:lastModifiedBy>
  <cp:revision>622</cp:revision>
  <cp:lastPrinted>2005-03-15T07:48:11Z</cp:lastPrinted>
  <dcterms:created xsi:type="dcterms:W3CDTF">2004-11-16T16:03:16Z</dcterms:created>
  <dcterms:modified xsi:type="dcterms:W3CDTF">2023-08-01T03:24:55Z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PPL_Language">
    <vt:i4>1031</vt:i4>
  </property>
</Properties>
</file>