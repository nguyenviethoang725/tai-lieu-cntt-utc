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8" r:id="rId4"/>
    <p:sldId id="331" r:id="rId5"/>
    <p:sldId id="329" r:id="rId6"/>
    <p:sldId id="330" r:id="rId7"/>
  </p:sldIdLst>
  <p:sldSz cx="12192000" cy="6858000"/>
  <p:notesSz cx="7315200" cy="96012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0066"/>
    <a:srgbClr val="00FFFF"/>
    <a:srgbClr val="009900"/>
    <a:srgbClr val="00FF00"/>
    <a:srgbClr val="003399"/>
    <a:srgbClr val="0033CC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719D26-D3D3-0736-9DCB-CC64826877D4}" v="1" dt="2024-12-31T11:06:06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04" autoAdjust="0"/>
    <p:restoredTop sz="94660"/>
  </p:normalViewPr>
  <p:slideViewPr>
    <p:cSldViewPr snapToGrid="0">
      <p:cViewPr varScale="1">
        <p:scale>
          <a:sx n="63" d="100"/>
          <a:sy n="63" d="100"/>
        </p:scale>
        <p:origin x="28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ĐỨC TOẢN" userId="S::toan243332140@lms.utc.edu.vn::c4a1a88f-6f6e-45c2-af67-669a9539b6b1" providerId="AD" clId="Web-{D1719D26-D3D3-0736-9DCB-CC64826877D4}"/>
    <pc:docChg chg="sldOrd">
      <pc:chgData name="NGUYỄN ĐỨC TOẢN" userId="S::toan243332140@lms.utc.edu.vn::c4a1a88f-6f6e-45c2-af67-669a9539b6b1" providerId="AD" clId="Web-{D1719D26-D3D3-0736-9DCB-CC64826877D4}" dt="2024-12-31T11:06:06.570" v="0"/>
      <pc:docMkLst>
        <pc:docMk/>
      </pc:docMkLst>
      <pc:sldChg chg="ord">
        <pc:chgData name="NGUYỄN ĐỨC TOẢN" userId="S::toan243332140@lms.utc.edu.vn::c4a1a88f-6f6e-45c2-af67-669a9539b6b1" providerId="AD" clId="Web-{D1719D26-D3D3-0736-9DCB-CC64826877D4}" dt="2024-12-31T11:06:06.570" v="0"/>
        <pc:sldMkLst>
          <pc:docMk/>
          <pc:sldMk cId="319037585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alpha-scan.co.uk/images/operating-systems-pi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69" y="3223186"/>
            <a:ext cx="11436509" cy="278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470647" y="3223186"/>
            <a:ext cx="11497235" cy="27742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37048"/>
            <a:ext cx="9144000" cy="174062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389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1030138" cy="635635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828769" y="509168"/>
            <a:ext cx="11049000" cy="6348832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165" y="1560402"/>
            <a:ext cx="10515600" cy="4610965"/>
          </a:xfrm>
          <a:ln>
            <a:noFill/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  <p:pic>
        <p:nvPicPr>
          <p:cNvPr id="2050" name="Picture 2" descr="http://www.blackboxtoolkit.com/images/os_issues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602" y="789"/>
            <a:ext cx="1360395" cy="13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/>
          <p:cNvGrpSpPr/>
          <p:nvPr userDrawn="1"/>
        </p:nvGrpSpPr>
        <p:grpSpPr>
          <a:xfrm>
            <a:off x="852830" y="1260493"/>
            <a:ext cx="9394404" cy="45719"/>
            <a:chOff x="-1707554" y="1208223"/>
            <a:chExt cx="9394404" cy="117808"/>
          </a:xfrm>
        </p:grpSpPr>
        <p:sp>
          <p:nvSpPr>
            <p:cNvPr id="11" name="Flowchart: Manual Input 10"/>
            <p:cNvSpPr/>
            <p:nvPr userDrawn="1"/>
          </p:nvSpPr>
          <p:spPr>
            <a:xfrm rot="5400000">
              <a:off x="6446743" y="78680"/>
              <a:ext cx="110564" cy="2369650"/>
            </a:xfrm>
            <a:prstGeom prst="flowChartManualInp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" name="Flowchart: Manual Input 13"/>
            <p:cNvSpPr/>
            <p:nvPr userDrawn="1"/>
          </p:nvSpPr>
          <p:spPr>
            <a:xfrm rot="5400000">
              <a:off x="5746771" y="78681"/>
              <a:ext cx="110564" cy="2369650"/>
            </a:xfrm>
            <a:prstGeom prst="flowChartManualInpu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Flowchart: Manual Input 14"/>
            <p:cNvSpPr/>
            <p:nvPr userDrawn="1"/>
          </p:nvSpPr>
          <p:spPr>
            <a:xfrm rot="5400000">
              <a:off x="5000064" y="80787"/>
              <a:ext cx="106352" cy="2369650"/>
            </a:xfrm>
            <a:prstGeom prst="flowChartManualInpu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Flowchart: Manual Input 15"/>
            <p:cNvSpPr/>
            <p:nvPr userDrawn="1"/>
          </p:nvSpPr>
          <p:spPr>
            <a:xfrm rot="5400000">
              <a:off x="4028545" y="78681"/>
              <a:ext cx="110564" cy="2369650"/>
            </a:xfrm>
            <a:prstGeom prst="flowChartManualInpu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Flowchart: Manual Input 16"/>
            <p:cNvSpPr/>
            <p:nvPr userDrawn="1"/>
          </p:nvSpPr>
          <p:spPr>
            <a:xfrm rot="5400000">
              <a:off x="3319141" y="78680"/>
              <a:ext cx="110564" cy="2369650"/>
            </a:xfrm>
            <a:prstGeom prst="flowChartManualInpu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Flowchart: Manual Input 17"/>
            <p:cNvSpPr/>
            <p:nvPr userDrawn="1"/>
          </p:nvSpPr>
          <p:spPr>
            <a:xfrm rot="5400000">
              <a:off x="2501144" y="78680"/>
              <a:ext cx="110564" cy="2369650"/>
            </a:xfrm>
            <a:prstGeom prst="flowChartManualInpu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Flowchart: Manual Input 18"/>
            <p:cNvSpPr/>
            <p:nvPr userDrawn="1"/>
          </p:nvSpPr>
          <p:spPr>
            <a:xfrm rot="5400000">
              <a:off x="1772762" y="273662"/>
              <a:ext cx="110564" cy="1979687"/>
            </a:xfrm>
            <a:prstGeom prst="flowChartManualInpu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" name="Flowchart: Manual Input 20"/>
            <p:cNvSpPr/>
            <p:nvPr userDrawn="1"/>
          </p:nvSpPr>
          <p:spPr>
            <a:xfrm rot="5400000">
              <a:off x="870774" y="85923"/>
              <a:ext cx="110564" cy="2369650"/>
            </a:xfrm>
            <a:prstGeom prst="flowChartManualInp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2" name="Flowchart: Manual Input 21"/>
            <p:cNvSpPr/>
            <p:nvPr userDrawn="1"/>
          </p:nvSpPr>
          <p:spPr>
            <a:xfrm rot="5400000">
              <a:off x="170802" y="85924"/>
              <a:ext cx="110564" cy="2369650"/>
            </a:xfrm>
            <a:prstGeom prst="flowChartManualInpu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3" name="Flowchart: Manual Input 22"/>
            <p:cNvSpPr/>
            <p:nvPr userDrawn="1"/>
          </p:nvSpPr>
          <p:spPr>
            <a:xfrm rot="5400000">
              <a:off x="-575905" y="88030"/>
              <a:ext cx="106352" cy="2369650"/>
            </a:xfrm>
            <a:prstGeom prst="flowChartManualInpu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9" name="Rectangle 8"/>
          <p:cNvSpPr/>
          <p:nvPr userDrawn="1"/>
        </p:nvSpPr>
        <p:spPr>
          <a:xfrm>
            <a:off x="10676965" y="-13447"/>
            <a:ext cx="1371600" cy="136118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259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155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919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15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522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637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583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365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790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887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15676-1EDD-4580-9E2C-06A1F01485BF}" type="datetimeFigureOut">
              <a:rPr lang="vi-VN" smtClean="0"/>
              <a:t>31/12/2024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518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nl@utc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0212" y="3943001"/>
            <a:ext cx="9144000" cy="17406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MÔN HỌC</a:t>
            </a:r>
            <a:br>
              <a:rPr lang="en-US" b="1" dirty="0"/>
            </a:br>
            <a:r>
              <a:rPr lang="en-US" sz="7300" b="1" dirty="0">
                <a:solidFill>
                  <a:srgbClr val="C00000"/>
                </a:solidFill>
              </a:rPr>
              <a:t>HỆ ĐIỀU HÀNH</a:t>
            </a:r>
            <a:br>
              <a:rPr lang="en-US" sz="8900" b="1" dirty="0">
                <a:solidFill>
                  <a:srgbClr val="C00000"/>
                </a:solidFill>
              </a:rPr>
            </a:br>
            <a:r>
              <a:rPr lang="en-US" sz="4900" b="1" dirty="0">
                <a:solidFill>
                  <a:srgbClr val="7030A0"/>
                </a:solidFill>
              </a:rPr>
              <a:t>3 TÍN CHỈ</a:t>
            </a:r>
            <a:br>
              <a:rPr lang="en-US" sz="4900" b="1" dirty="0">
                <a:solidFill>
                  <a:srgbClr val="7030A0"/>
                </a:solidFill>
              </a:rPr>
            </a:br>
            <a:r>
              <a:rPr lang="en-US" sz="4900" b="1" dirty="0" err="1">
                <a:solidFill>
                  <a:srgbClr val="7030A0"/>
                </a:solidFill>
              </a:rPr>
              <a:t>Giảng</a:t>
            </a:r>
            <a:r>
              <a:rPr lang="en-US" sz="4900" b="1" dirty="0">
                <a:solidFill>
                  <a:srgbClr val="7030A0"/>
                </a:solidFill>
              </a:rPr>
              <a:t> </a:t>
            </a:r>
            <a:r>
              <a:rPr lang="en-US" sz="4900" b="1" dirty="0" err="1">
                <a:solidFill>
                  <a:srgbClr val="7030A0"/>
                </a:solidFill>
              </a:rPr>
              <a:t>viên</a:t>
            </a:r>
            <a:r>
              <a:rPr lang="en-US" sz="4900" b="1" dirty="0">
                <a:solidFill>
                  <a:srgbClr val="7030A0"/>
                </a:solidFill>
              </a:rPr>
              <a:t>: </a:t>
            </a:r>
            <a:r>
              <a:rPr lang="en-US" sz="4900" b="1" dirty="0" err="1">
                <a:solidFill>
                  <a:srgbClr val="7030A0"/>
                </a:solidFill>
              </a:rPr>
              <a:t>ThS.Nguyễn</a:t>
            </a:r>
            <a:r>
              <a:rPr lang="en-US" sz="4900" b="1" dirty="0">
                <a:solidFill>
                  <a:srgbClr val="7030A0"/>
                </a:solidFill>
              </a:rPr>
              <a:t> </a:t>
            </a:r>
            <a:r>
              <a:rPr lang="en-US" sz="4900" b="1" dirty="0" err="1">
                <a:solidFill>
                  <a:srgbClr val="7030A0"/>
                </a:solidFill>
              </a:rPr>
              <a:t>Lê</a:t>
            </a:r>
            <a:r>
              <a:rPr lang="en-US" sz="4900" b="1" dirty="0">
                <a:solidFill>
                  <a:srgbClr val="7030A0"/>
                </a:solidFill>
              </a:rPr>
              <a:t> Minh</a:t>
            </a:r>
            <a:br>
              <a:rPr lang="en-US" sz="4900" b="1" dirty="0">
                <a:solidFill>
                  <a:srgbClr val="7030A0"/>
                </a:solidFill>
              </a:rPr>
            </a:br>
            <a:r>
              <a:rPr lang="en-US" sz="4900" b="1" dirty="0">
                <a:solidFill>
                  <a:srgbClr val="7030A0"/>
                </a:solidFill>
                <a:hlinkClick r:id="rId2"/>
              </a:rPr>
              <a:t>minhnl@utc.edu.vn</a:t>
            </a:r>
            <a:br>
              <a:rPr lang="en-US" sz="4900" b="1" dirty="0">
                <a:solidFill>
                  <a:srgbClr val="7030A0"/>
                </a:solidFill>
              </a:rPr>
            </a:br>
            <a:r>
              <a:rPr lang="en-US" sz="4900" b="1" dirty="0">
                <a:solidFill>
                  <a:srgbClr val="7030A0"/>
                </a:solidFill>
              </a:rPr>
              <a:t>0931 385 579</a:t>
            </a:r>
            <a:br>
              <a:rPr lang="en-US" sz="4900" b="1" dirty="0">
                <a:solidFill>
                  <a:srgbClr val="0099FF"/>
                </a:solidFill>
              </a:rPr>
            </a:br>
            <a:endParaRPr lang="vi-VN" b="1" dirty="0">
              <a:solidFill>
                <a:srgbClr val="0099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5046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Mục đích môn học</a:t>
            </a:r>
            <a:endParaRPr lang="vi-VN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23" y="1613231"/>
            <a:ext cx="10515600" cy="4351338"/>
          </a:xfrm>
        </p:spPr>
        <p:txBody>
          <a:bodyPr/>
          <a:lstStyle/>
          <a:p>
            <a:pPr algn="just"/>
            <a:r>
              <a:rPr lang="vi-VN">
                <a:latin typeface="Arial" pitchFamily="34" charset="0"/>
                <a:cs typeface="Arial" pitchFamily="34" charset="0"/>
              </a:rPr>
              <a:t>Môn học giới thiệu các kiến thức chung, như khái niệm hệ điều hành, nhiệm vụ, chức</a:t>
            </a:r>
            <a:r>
              <a:rPr lang="en-US">
                <a:latin typeface="Arial" pitchFamily="34" charset="0"/>
                <a:cs typeface="Arial" pitchFamily="34" charset="0"/>
              </a:rPr>
              <a:t> </a:t>
            </a:r>
            <a:r>
              <a:rPr lang="vi-VN">
                <a:latin typeface="Arial" pitchFamily="34" charset="0"/>
                <a:cs typeface="Arial" pitchFamily="34" charset="0"/>
              </a:rPr>
              <a:t>năng và cấu trúc của hệ điều hành. </a:t>
            </a:r>
            <a:endParaRPr lang="en-US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vi-VN">
                <a:latin typeface="Arial" pitchFamily="34" charset="0"/>
                <a:cs typeface="Arial" pitchFamily="34" charset="0"/>
              </a:rPr>
              <a:t>Môn học cũng đi sâu về những </a:t>
            </a:r>
            <a:r>
              <a:rPr lang="en-US">
                <a:latin typeface="Arial" pitchFamily="34" charset="0"/>
                <a:cs typeface="Arial" pitchFamily="34" charset="0"/>
              </a:rPr>
              <a:t>thành </a:t>
            </a:r>
            <a:r>
              <a:rPr lang="vi-VN">
                <a:latin typeface="Arial" pitchFamily="34" charset="0"/>
                <a:cs typeface="Arial" pitchFamily="34" charset="0"/>
              </a:rPr>
              <a:t>phần cơ bản </a:t>
            </a:r>
            <a:r>
              <a:rPr lang="en-US">
                <a:latin typeface="Arial" pitchFamily="34" charset="0"/>
                <a:cs typeface="Arial" pitchFamily="34" charset="0"/>
              </a:rPr>
              <a:t>của </a:t>
            </a:r>
            <a:r>
              <a:rPr lang="vi-VN">
                <a:latin typeface="Arial" pitchFamily="34" charset="0"/>
                <a:cs typeface="Arial" pitchFamily="34" charset="0"/>
              </a:rPr>
              <a:t>hệ</a:t>
            </a:r>
            <a:r>
              <a:rPr lang="en-US">
                <a:latin typeface="Arial" pitchFamily="34" charset="0"/>
                <a:cs typeface="Arial" pitchFamily="34" charset="0"/>
              </a:rPr>
              <a:t> </a:t>
            </a:r>
            <a:r>
              <a:rPr lang="vi-VN">
                <a:latin typeface="Arial" pitchFamily="34" charset="0"/>
                <a:cs typeface="Arial" pitchFamily="34" charset="0"/>
              </a:rPr>
              <a:t>điều hành, đó là: quản lý bộ nhớ, quản lý tiến trình, quản lý processor, quản lý vào ra. </a:t>
            </a:r>
            <a:endParaRPr lang="en-US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vi-VN">
                <a:latin typeface="Arial" pitchFamily="34" charset="0"/>
                <a:cs typeface="Arial" pitchFamily="34" charset="0"/>
              </a:rPr>
              <a:t>Ngoài</a:t>
            </a:r>
            <a:r>
              <a:rPr lang="en-US">
                <a:latin typeface="Arial" pitchFamily="34" charset="0"/>
                <a:cs typeface="Arial" pitchFamily="34" charset="0"/>
              </a:rPr>
              <a:t> </a:t>
            </a:r>
            <a:r>
              <a:rPr lang="vi-VN">
                <a:latin typeface="Arial" pitchFamily="34" charset="0"/>
                <a:cs typeface="Arial" pitchFamily="34" charset="0"/>
              </a:rPr>
              <a:t>ra, môn học còn giới thiệu cấu trúc và nguyên lý hoạt động của một số hệ điều hành như Windows, Unix, Linux.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334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Nội dung môn học</a:t>
            </a:r>
            <a:endParaRPr lang="vi-VN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23" y="1613231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vi-VN" dirty="0">
                <a:latin typeface="Arial" pitchFamily="34" charset="0"/>
                <a:cs typeface="Arial" pitchFamily="34" charset="0"/>
              </a:rPr>
              <a:t>Chương 1: TỔNG QUAN VỀ HỆ ĐIỀU HÀN</a:t>
            </a:r>
            <a:r>
              <a:rPr lang="en-US" dirty="0">
                <a:latin typeface="Arial" pitchFamily="34" charset="0"/>
                <a:cs typeface="Arial" pitchFamily="34" charset="0"/>
              </a:rPr>
              <a:t>H</a:t>
            </a:r>
          </a:p>
          <a:p>
            <a:pPr algn="just"/>
            <a:r>
              <a:rPr lang="vi-VN" dirty="0"/>
              <a:t>Chương 2 CẤU TRÚC HỆ ĐIỀU HÀN</a:t>
            </a:r>
            <a:r>
              <a:rPr lang="en-US" sz="3200" dirty="0"/>
              <a:t>H</a:t>
            </a:r>
          </a:p>
          <a:p>
            <a:pPr algn="just"/>
            <a:r>
              <a:rPr lang="vi-VN" dirty="0"/>
              <a:t>Chương 3 QUẢN LÝ TIẾN TRÌNH</a:t>
            </a:r>
            <a:endParaRPr lang="en-US" dirty="0"/>
          </a:p>
          <a:p>
            <a:pPr algn="just"/>
            <a:r>
              <a:rPr lang="vi-VN" dirty="0"/>
              <a:t>Chương 4 ĐỒNG BỘ TIẾN TRÌNH</a:t>
            </a:r>
            <a:endParaRPr lang="en-US" dirty="0"/>
          </a:p>
          <a:p>
            <a:pPr algn="just"/>
            <a:r>
              <a:rPr lang="vi-VN" dirty="0"/>
              <a:t>Chương 5 BẾ TẮC</a:t>
            </a:r>
            <a:endParaRPr lang="en-US" dirty="0"/>
          </a:p>
          <a:p>
            <a:pPr algn="just"/>
            <a:r>
              <a:rPr lang="vi-VN" dirty="0"/>
              <a:t>Chương 6 BỘ NHỚ CHÍNH</a:t>
            </a:r>
            <a:endParaRPr lang="en-US" dirty="0"/>
          </a:p>
          <a:p>
            <a:pPr algn="just"/>
            <a:r>
              <a:rPr lang="vi-VN" dirty="0"/>
              <a:t>Chương 7 BỘ NHỚ ẢO</a:t>
            </a:r>
            <a:endParaRPr lang="en-US" dirty="0"/>
          </a:p>
          <a:p>
            <a:pPr algn="just"/>
            <a:r>
              <a:rPr lang="vi-VN" dirty="0"/>
              <a:t>Chương 8 HỆ THỐNG TẬP TIN</a:t>
            </a:r>
            <a:endParaRPr lang="en-US" dirty="0"/>
          </a:p>
          <a:p>
            <a:pPr algn="just"/>
            <a:r>
              <a:rPr lang="vi-VN" dirty="0"/>
              <a:t>Chương 9 QUẢN LÝ THIẾT BỊ</a:t>
            </a:r>
          </a:p>
        </p:txBody>
      </p:sp>
    </p:spTree>
    <p:extLst>
      <p:ext uri="{BB962C8B-B14F-4D97-AF65-F5344CB8AC3E}">
        <p14:creationId xmlns:p14="http://schemas.microsoft.com/office/powerpoint/2010/main" val="251815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C1F9-01F4-42E4-A224-237966BA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TIẾT CÁCH THỨC HỌC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F42D-8776-4674-9F34-D4F0F6981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CÁC BUỔI LÝ THUYẾT (11 </a:t>
            </a:r>
            <a:r>
              <a:rPr lang="en-US" dirty="0" err="1"/>
              <a:t>buổi</a:t>
            </a:r>
            <a:r>
              <a:rPr lang="en-US" dirty="0"/>
              <a:t> x 3 </a:t>
            </a:r>
            <a:r>
              <a:rPr lang="en-US" dirty="0" err="1"/>
              <a:t>tiết</a:t>
            </a:r>
            <a:r>
              <a:rPr lang="en-US" dirty="0"/>
              <a:t>)</a:t>
            </a:r>
          </a:p>
          <a:p>
            <a:r>
              <a:rPr lang="en-US" dirty="0"/>
              <a:t>SV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(slide </a:t>
            </a:r>
            <a:r>
              <a:rPr lang="en-US" dirty="0" err="1"/>
              <a:t>đã</a:t>
            </a:r>
            <a:r>
              <a:rPr lang="en-US" dirty="0"/>
              <a:t>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)</a:t>
            </a:r>
          </a:p>
          <a:p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củng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CÁC BUỔI BÀI TẬP (11 </a:t>
            </a:r>
            <a:r>
              <a:rPr lang="en-US" dirty="0" err="1"/>
              <a:t>buổi</a:t>
            </a:r>
            <a:r>
              <a:rPr lang="en-US" dirty="0"/>
              <a:t> x 3 </a:t>
            </a:r>
            <a:r>
              <a:rPr lang="en-US" dirty="0" err="1"/>
              <a:t>tiết</a:t>
            </a:r>
            <a:r>
              <a:rPr lang="en-US" dirty="0"/>
              <a:t>)</a:t>
            </a:r>
          </a:p>
          <a:p>
            <a:r>
              <a:rPr lang="en-US" dirty="0"/>
              <a:t>SV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(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)</a:t>
            </a:r>
          </a:p>
          <a:p>
            <a:r>
              <a:rPr lang="en-US" dirty="0"/>
              <a:t>SV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  <a:p>
            <a:r>
              <a:rPr lang="en-US" dirty="0"/>
              <a:t>SV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,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Linux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10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QUI ĐỊNH HỌC TẬP VÀ THI</a:t>
            </a:r>
            <a:endParaRPr lang="vi-VN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23" y="161323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Điểm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quá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trình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dirty="0" err="1">
                <a:latin typeface="Arial" pitchFamily="34" charset="0"/>
                <a:cs typeface="Arial" pitchFamily="34" charset="0"/>
              </a:rPr>
              <a:t>Điểm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chuyên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cần</a:t>
            </a:r>
            <a:r>
              <a:rPr lang="en-US" dirty="0">
                <a:latin typeface="Arial" pitchFamily="34" charset="0"/>
                <a:cs typeface="Arial" pitchFamily="34" charset="0"/>
              </a:rPr>
              <a:t>: 					10%</a:t>
            </a:r>
          </a:p>
          <a:p>
            <a:pPr algn="just"/>
            <a:r>
              <a:rPr lang="en-US" dirty="0" err="1">
                <a:latin typeface="Arial" pitchFamily="34" charset="0"/>
                <a:cs typeface="Arial" pitchFamily="34" charset="0"/>
              </a:rPr>
              <a:t>Điểm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bài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tập</a:t>
            </a:r>
            <a:r>
              <a:rPr lang="en-US" dirty="0">
                <a:latin typeface="Arial" pitchFamily="34" charset="0"/>
                <a:cs typeface="Arial" pitchFamily="34" charset="0"/>
              </a:rPr>
              <a:t>: 						30%</a:t>
            </a:r>
          </a:p>
          <a:p>
            <a:pPr marL="0" indent="0" algn="just">
              <a:buNone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Điểm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kết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thúc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phần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dirty="0" err="1">
                <a:latin typeface="Arial" pitchFamily="34" charset="0"/>
                <a:cs typeface="Arial" pitchFamily="34" charset="0"/>
              </a:rPr>
              <a:t>Trắc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nghiệm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máy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dirty="0">
                <a:latin typeface="Arial" pitchFamily="34" charset="0"/>
                <a:cs typeface="Arial" pitchFamily="34" charset="0"/>
              </a:rPr>
              <a:t>:				60%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3441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295"/>
          </a:xfrm>
        </p:spPr>
        <p:txBody>
          <a:bodyPr>
            <a:normAutofit/>
          </a:bodyPr>
          <a:lstStyle/>
          <a:p>
            <a:r>
              <a:rPr lang="en-US">
                <a:latin typeface="+mn-lt"/>
              </a:rPr>
              <a:t>TÀI NGUYÊN HỌC TẬP</a:t>
            </a:r>
            <a:endParaRPr lang="vi-VN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47165" y="1461790"/>
            <a:ext cx="10515600" cy="461096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: Operating System Concepts, Ninth Edition - A. </a:t>
            </a:r>
            <a:r>
              <a:rPr lang="en-US" dirty="0" err="1"/>
              <a:t>Silberschatz</a:t>
            </a:r>
            <a:r>
              <a:rPr lang="en-US" dirty="0"/>
              <a:t>, Peter Baer Galvin, Greg Gagne. Wiley 2013</a:t>
            </a:r>
          </a:p>
          <a:p>
            <a:r>
              <a:rPr lang="vi-VN" dirty="0"/>
              <a:t>Giáo trình Nguyên lý Hệ điều hành, Hồ Đắc Phương, NXBGD, 2010 </a:t>
            </a:r>
            <a:endParaRPr lang="en-US" dirty="0"/>
          </a:p>
          <a:p>
            <a:r>
              <a:rPr lang="en-US" dirty="0"/>
              <a:t>E-books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Thơ</a:t>
            </a:r>
            <a:endParaRPr lang="en-US" dirty="0"/>
          </a:p>
          <a:p>
            <a:r>
              <a:rPr lang="en-US" dirty="0"/>
              <a:t>Slide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Anh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</a:t>
            </a:r>
            <a:r>
              <a:rPr lang="en-US" dirty="0" err="1"/>
              <a:t>Việt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Download qua website</a:t>
            </a:r>
            <a:r>
              <a:rPr lang="en-US"/>
              <a:t>: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      http://cuuduongthancong.com	</a:t>
            </a:r>
          </a:p>
          <a:p>
            <a:pPr marL="0" indent="0">
              <a:buNone/>
            </a:pPr>
            <a:r>
              <a:rPr lang="en-US"/>
              <a:t>                            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Internet</a:t>
            </a:r>
          </a:p>
          <a:p>
            <a:pPr marL="0" indent="0">
              <a:buNone/>
            </a:pPr>
            <a:br>
              <a:rPr lang="vi-VN" dirty="0"/>
            </a:br>
            <a:endParaRPr lang="en-US" dirty="0"/>
          </a:p>
          <a:p>
            <a:pPr algn="just"/>
            <a:r>
              <a:rPr lang="en-US" dirty="0"/>
              <a:t> </a:t>
            </a:r>
            <a:br>
              <a:rPr lang="en-US" dirty="0"/>
            </a:b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903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12646</TotalTime>
  <Words>344</Words>
  <Application>Microsoft Office PowerPoint</Application>
  <PresentationFormat>Màn hình rộng</PresentationFormat>
  <Paragraphs>43</Paragraphs>
  <Slides>6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7" baseType="lpstr">
      <vt:lpstr>Office Theme</vt:lpstr>
      <vt:lpstr>MÔN HỌC HỆ ĐIỀU HÀNH 3 TÍN CHỈ Giảng viên: ThS.Nguyễn Lê Minh minhnl@utc.edu.vn 0931 385 579 </vt:lpstr>
      <vt:lpstr>Mục đích môn học</vt:lpstr>
      <vt:lpstr>Nội dung môn học</vt:lpstr>
      <vt:lpstr>CHI TIẾT CÁCH THỨC HỌC TẬP</vt:lpstr>
      <vt:lpstr>QUI ĐỊNH HỌC TẬP VÀ THI</vt:lpstr>
      <vt:lpstr>TÀI NGUYÊN HỌC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Kim Sao</dc:creator>
  <cp:lastModifiedBy>Admin</cp:lastModifiedBy>
  <cp:revision>61</cp:revision>
  <cp:lastPrinted>2022-01-02T04:59:07Z</cp:lastPrinted>
  <dcterms:created xsi:type="dcterms:W3CDTF">2016-01-06T01:29:25Z</dcterms:created>
  <dcterms:modified xsi:type="dcterms:W3CDTF">2024-12-31T11:06:06Z</dcterms:modified>
</cp:coreProperties>
</file>