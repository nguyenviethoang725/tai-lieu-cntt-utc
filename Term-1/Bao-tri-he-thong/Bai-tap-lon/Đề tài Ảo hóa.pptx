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Josefin Sans Bold" charset="1" panose="00000800000000000000"/>
      <p:regular r:id="rId18"/>
    </p:embeddedFont>
    <p:embeddedFont>
      <p:font typeface="Josefin Sans" charset="1" panose="00000500000000000000"/>
      <p:regular r:id="rId19"/>
    </p:embeddedFont>
    <p:embeddedFont>
      <p:font typeface="Calistoga"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grpSp>
        <p:nvGrpSpPr>
          <p:cNvPr name="Group 2" id="2"/>
          <p:cNvGrpSpPr/>
          <p:nvPr/>
        </p:nvGrpSpPr>
        <p:grpSpPr>
          <a:xfrm rot="0">
            <a:off x="8902445" y="2719557"/>
            <a:ext cx="8854967" cy="4847885"/>
            <a:chOff x="0" y="0"/>
            <a:chExt cx="11806622" cy="6463847"/>
          </a:xfrm>
        </p:grpSpPr>
        <p:sp>
          <p:nvSpPr>
            <p:cNvPr name="TextBox 3" id="3"/>
            <p:cNvSpPr txBox="true"/>
            <p:nvPr/>
          </p:nvSpPr>
          <p:spPr>
            <a:xfrm rot="0">
              <a:off x="0" y="1679214"/>
              <a:ext cx="11806622" cy="1463336"/>
            </a:xfrm>
            <a:prstGeom prst="rect">
              <a:avLst/>
            </a:prstGeom>
          </p:spPr>
          <p:txBody>
            <a:bodyPr anchor="t" rtlCol="false" tIns="0" lIns="0" bIns="0" rIns="0">
              <a:spAutoFit/>
            </a:bodyPr>
            <a:lstStyle/>
            <a:p>
              <a:pPr algn="l">
                <a:lnSpc>
                  <a:spcPts val="8372"/>
                </a:lnSpc>
              </a:pPr>
              <a:r>
                <a:rPr lang="en-US" sz="7475" b="true">
                  <a:solidFill>
                    <a:srgbClr val="F7B4A7"/>
                  </a:solidFill>
                  <a:latin typeface="Josefin Sans Bold"/>
                  <a:ea typeface="Josefin Sans Bold"/>
                  <a:cs typeface="Josefin Sans Bold"/>
                  <a:sym typeface="Josefin Sans Bold"/>
                </a:rPr>
                <a:t>Công nghệ Ảo hóa</a:t>
              </a:r>
            </a:p>
          </p:txBody>
        </p:sp>
        <p:sp>
          <p:nvSpPr>
            <p:cNvPr name="TextBox 4" id="4"/>
            <p:cNvSpPr txBox="true"/>
            <p:nvPr/>
          </p:nvSpPr>
          <p:spPr>
            <a:xfrm rot="0">
              <a:off x="0" y="-71755"/>
              <a:ext cx="11806622" cy="544195"/>
            </a:xfrm>
            <a:prstGeom prst="rect">
              <a:avLst/>
            </a:prstGeom>
          </p:spPr>
          <p:txBody>
            <a:bodyPr anchor="t" rtlCol="false" tIns="0" lIns="0" bIns="0" rIns="0">
              <a:spAutoFit/>
            </a:bodyPr>
            <a:lstStyle/>
            <a:p>
              <a:pPr algn="l">
                <a:lnSpc>
                  <a:spcPts val="3359"/>
                </a:lnSpc>
              </a:pPr>
              <a:r>
                <a:rPr lang="en-US" sz="2400" spc="446">
                  <a:solidFill>
                    <a:srgbClr val="94DDDE"/>
                  </a:solidFill>
                  <a:latin typeface="Josefin Sans"/>
                  <a:ea typeface="Josefin Sans"/>
                  <a:cs typeface="Josefin Sans"/>
                  <a:sym typeface="Josefin Sans"/>
                </a:rPr>
                <a:t>BÀI THUYẾT TRÌNH VỀ ĐỀ TÀI</a:t>
              </a:r>
            </a:p>
          </p:txBody>
        </p:sp>
        <p:sp>
          <p:nvSpPr>
            <p:cNvPr name="TextBox 5" id="5"/>
            <p:cNvSpPr txBox="true"/>
            <p:nvPr/>
          </p:nvSpPr>
          <p:spPr>
            <a:xfrm rot="0">
              <a:off x="0" y="4108420"/>
              <a:ext cx="11806622" cy="2361353"/>
            </a:xfrm>
            <a:prstGeom prst="rect">
              <a:avLst/>
            </a:prstGeom>
          </p:spPr>
          <p:txBody>
            <a:bodyPr anchor="t" rtlCol="false" tIns="0" lIns="0" bIns="0" rIns="0">
              <a:spAutoFit/>
            </a:bodyPr>
            <a:lstStyle/>
            <a:p>
              <a:pPr algn="l">
                <a:lnSpc>
                  <a:spcPts val="4759"/>
                </a:lnSpc>
              </a:pPr>
              <a:r>
                <a:rPr lang="en-US" sz="3399">
                  <a:solidFill>
                    <a:srgbClr val="94DDDE"/>
                  </a:solidFill>
                  <a:latin typeface="Josefin Sans"/>
                  <a:ea typeface="Josefin Sans"/>
                  <a:cs typeface="Josefin Sans"/>
                  <a:sym typeface="Josefin Sans"/>
                </a:rPr>
                <a:t>Presented by Nguyễn Việt Hoàng 231230791</a:t>
              </a:r>
            </a:p>
            <a:p>
              <a:pPr algn="l">
                <a:lnSpc>
                  <a:spcPts val="4759"/>
                </a:lnSpc>
              </a:pPr>
              <a:r>
                <a:rPr lang="en-US" sz="3399">
                  <a:solidFill>
                    <a:srgbClr val="94DDDE"/>
                  </a:solidFill>
                  <a:latin typeface="Josefin Sans"/>
                  <a:ea typeface="Josefin Sans"/>
                  <a:cs typeface="Josefin Sans"/>
                  <a:sym typeface="Josefin Sans"/>
                </a:rPr>
                <a:t>                    Vũ Thị Thanh Hằng 231230766</a:t>
              </a:r>
            </a:p>
            <a:p>
              <a:pPr algn="l">
                <a:lnSpc>
                  <a:spcPts val="4760"/>
                </a:lnSpc>
              </a:pPr>
              <a:r>
                <a:rPr lang="en-US" sz="3400">
                  <a:solidFill>
                    <a:srgbClr val="94DDDE"/>
                  </a:solidFill>
                  <a:latin typeface="Josefin Sans"/>
                  <a:ea typeface="Josefin Sans"/>
                  <a:cs typeface="Josefin Sans"/>
                  <a:sym typeface="Josefin Sans"/>
                </a:rPr>
                <a:t>From IT3 - K64 - UTC</a:t>
              </a:r>
            </a:p>
          </p:txBody>
        </p:sp>
      </p:grpSp>
      <p:sp>
        <p:nvSpPr>
          <p:cNvPr name="Freeform 6" id="6"/>
          <p:cNvSpPr/>
          <p:nvPr/>
        </p:nvSpPr>
        <p:spPr>
          <a:xfrm flipH="false" flipV="false" rot="0">
            <a:off x="1182834" y="-1921745"/>
            <a:ext cx="6755642" cy="4114800"/>
          </a:xfrm>
          <a:custGeom>
            <a:avLst/>
            <a:gdLst/>
            <a:ahLst/>
            <a:cxnLst/>
            <a:rect r="r" b="b" t="t" l="l"/>
            <a:pathLst>
              <a:path h="4114800" w="6755642">
                <a:moveTo>
                  <a:pt x="0" y="0"/>
                </a:moveTo>
                <a:lnTo>
                  <a:pt x="6755642" y="0"/>
                </a:lnTo>
                <a:lnTo>
                  <a:pt x="675564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6303834" y="1790711"/>
            <a:ext cx="1194327" cy="2586142"/>
          </a:xfrm>
          <a:custGeom>
            <a:avLst/>
            <a:gdLst/>
            <a:ahLst/>
            <a:cxnLst/>
            <a:rect r="r" b="b" t="t" l="l"/>
            <a:pathLst>
              <a:path h="2586142" w="1194327">
                <a:moveTo>
                  <a:pt x="0" y="0"/>
                </a:moveTo>
                <a:lnTo>
                  <a:pt x="1194327" y="0"/>
                </a:lnTo>
                <a:lnTo>
                  <a:pt x="1194327" y="2586142"/>
                </a:lnTo>
                <a:lnTo>
                  <a:pt x="0" y="25861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2095190" y="2021154"/>
            <a:ext cx="5357753" cy="5591583"/>
          </a:xfrm>
          <a:custGeom>
            <a:avLst/>
            <a:gdLst/>
            <a:ahLst/>
            <a:cxnLst/>
            <a:rect r="r" b="b" t="t" l="l"/>
            <a:pathLst>
              <a:path h="5591583" w="5357753">
                <a:moveTo>
                  <a:pt x="5357753" y="0"/>
                </a:moveTo>
                <a:lnTo>
                  <a:pt x="0" y="0"/>
                </a:lnTo>
                <a:lnTo>
                  <a:pt x="0" y="5591582"/>
                </a:lnTo>
                <a:lnTo>
                  <a:pt x="5357753" y="5591582"/>
                </a:lnTo>
                <a:lnTo>
                  <a:pt x="535775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947148" y="1264426"/>
            <a:ext cx="3144039" cy="2440918"/>
          </a:xfrm>
          <a:custGeom>
            <a:avLst/>
            <a:gdLst/>
            <a:ahLst/>
            <a:cxnLst/>
            <a:rect r="r" b="b" t="t" l="l"/>
            <a:pathLst>
              <a:path h="2440918" w="3144039">
                <a:moveTo>
                  <a:pt x="0" y="0"/>
                </a:moveTo>
                <a:lnTo>
                  <a:pt x="3144040" y="0"/>
                </a:lnTo>
                <a:lnTo>
                  <a:pt x="3144040" y="2440918"/>
                </a:lnTo>
                <a:lnTo>
                  <a:pt x="0" y="24409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24872" y="5005800"/>
            <a:ext cx="1894295" cy="4252500"/>
          </a:xfrm>
          <a:custGeom>
            <a:avLst/>
            <a:gdLst/>
            <a:ahLst/>
            <a:cxnLst/>
            <a:rect r="r" b="b" t="t" l="l"/>
            <a:pathLst>
              <a:path h="4252500" w="1894295">
                <a:moveTo>
                  <a:pt x="0" y="0"/>
                </a:moveTo>
                <a:lnTo>
                  <a:pt x="1894295" y="0"/>
                </a:lnTo>
                <a:lnTo>
                  <a:pt x="1894295" y="4252500"/>
                </a:lnTo>
                <a:lnTo>
                  <a:pt x="0" y="42525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4011803" y="7612736"/>
            <a:ext cx="3486358" cy="4114800"/>
          </a:xfrm>
          <a:custGeom>
            <a:avLst/>
            <a:gdLst/>
            <a:ahLst/>
            <a:cxnLst/>
            <a:rect r="r" b="b" t="t" l="l"/>
            <a:pathLst>
              <a:path h="4114800" w="3486358">
                <a:moveTo>
                  <a:pt x="0" y="0"/>
                </a:moveTo>
                <a:lnTo>
                  <a:pt x="3486358" y="0"/>
                </a:lnTo>
                <a:lnTo>
                  <a:pt x="348635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grpSp>
        <p:nvGrpSpPr>
          <p:cNvPr name="Group 2" id="2"/>
          <p:cNvGrpSpPr/>
          <p:nvPr/>
        </p:nvGrpSpPr>
        <p:grpSpPr>
          <a:xfrm rot="0">
            <a:off x="10528898" y="-1459519"/>
            <a:ext cx="8592473" cy="6603019"/>
            <a:chOff x="0" y="0"/>
            <a:chExt cx="11456630" cy="8804025"/>
          </a:xfrm>
        </p:grpSpPr>
        <p:sp>
          <p:nvSpPr>
            <p:cNvPr name="TextBox 3" id="3"/>
            <p:cNvSpPr txBox="true"/>
            <p:nvPr/>
          </p:nvSpPr>
          <p:spPr>
            <a:xfrm rot="0">
              <a:off x="481673" y="-9525"/>
              <a:ext cx="6723775" cy="1279525"/>
            </a:xfrm>
            <a:prstGeom prst="rect">
              <a:avLst/>
            </a:prstGeom>
          </p:spPr>
          <p:txBody>
            <a:bodyPr anchor="t" rtlCol="false" tIns="0" lIns="0" bIns="0" rIns="0">
              <a:spAutoFit/>
            </a:bodyPr>
            <a:lstStyle/>
            <a:p>
              <a:pPr algn="l">
                <a:lnSpc>
                  <a:spcPts val="7559"/>
                </a:lnSpc>
              </a:pPr>
              <a:r>
                <a:rPr lang="en-US" sz="6299" b="true">
                  <a:solidFill>
                    <a:srgbClr val="F7B4A7"/>
                  </a:solidFill>
                  <a:latin typeface="Josefin Sans Bold"/>
                  <a:ea typeface="Josefin Sans Bold"/>
                  <a:cs typeface="Josefin Sans Bold"/>
                  <a:sym typeface="Josefin Sans Bold"/>
                </a:rPr>
                <a:t>Mục lục</a:t>
              </a:r>
            </a:p>
          </p:txBody>
        </p:sp>
        <p:sp>
          <p:nvSpPr>
            <p:cNvPr name="TextBox 4" id="4"/>
            <p:cNvSpPr txBox="true"/>
            <p:nvPr/>
          </p:nvSpPr>
          <p:spPr>
            <a:xfrm rot="0">
              <a:off x="481673" y="2317234"/>
              <a:ext cx="7537706" cy="988060"/>
            </a:xfrm>
            <a:prstGeom prst="rect">
              <a:avLst/>
            </a:prstGeom>
          </p:spPr>
          <p:txBody>
            <a:bodyPr anchor="t" rtlCol="false" tIns="0" lIns="0" bIns="0" rIns="0">
              <a:spAutoFit/>
            </a:bodyPr>
            <a:lstStyle/>
            <a:p>
              <a:pPr algn="l">
                <a:lnSpc>
                  <a:spcPts val="3052"/>
                </a:lnSpc>
              </a:pPr>
              <a:r>
                <a:rPr lang="en-US" sz="1849" spc="221">
                  <a:solidFill>
                    <a:srgbClr val="94DDDE"/>
                  </a:solidFill>
                  <a:latin typeface="Josefin Sans"/>
                  <a:ea typeface="Josefin Sans"/>
                  <a:cs typeface="Josefin Sans"/>
                  <a:sym typeface="Josefin Sans"/>
                </a:rPr>
                <a:t>CÁC CHỦ ĐỀ CHÍNH ĐƯỢC THẢO LUẬN TRONG BẢN THUYẾT TRÌNH NÀY</a:t>
              </a:r>
            </a:p>
          </p:txBody>
        </p:sp>
        <p:sp>
          <p:nvSpPr>
            <p:cNvPr name="TextBox 5" id="5"/>
            <p:cNvSpPr txBox="true"/>
            <p:nvPr/>
          </p:nvSpPr>
          <p:spPr>
            <a:xfrm rot="0">
              <a:off x="0" y="4544868"/>
              <a:ext cx="11456630" cy="3923877"/>
            </a:xfrm>
            <a:prstGeom prst="rect">
              <a:avLst/>
            </a:prstGeom>
          </p:spPr>
          <p:txBody>
            <a:bodyPr anchor="t" rtlCol="false" tIns="0" lIns="0" bIns="0" rIns="0">
              <a:spAutoFit/>
            </a:bodyPr>
            <a:lstStyle/>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Ảo hóa là gì?</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Công dụng và nguyên lý của Ảo hóa</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Cấu tạo của một hệ thống Ảo hóa</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Phân loại Ảo hóa</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Rủi ro và giải pháp</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Demo về công nghệ Ảo hóa</a:t>
              </a:r>
            </a:p>
          </p:txBody>
        </p:sp>
      </p:grpSp>
      <p:sp>
        <p:nvSpPr>
          <p:cNvPr name="Freeform 6" id="6"/>
          <p:cNvSpPr/>
          <p:nvPr/>
        </p:nvSpPr>
        <p:spPr>
          <a:xfrm flipH="false" flipV="false" rot="0">
            <a:off x="1309758" y="1684366"/>
            <a:ext cx="3874545" cy="5122596"/>
          </a:xfrm>
          <a:custGeom>
            <a:avLst/>
            <a:gdLst/>
            <a:ahLst/>
            <a:cxnLst/>
            <a:rect r="r" b="b" t="t" l="l"/>
            <a:pathLst>
              <a:path h="5122596" w="3874545">
                <a:moveTo>
                  <a:pt x="0" y="0"/>
                </a:moveTo>
                <a:lnTo>
                  <a:pt x="3874546" y="0"/>
                </a:lnTo>
                <a:lnTo>
                  <a:pt x="3874546" y="5122596"/>
                </a:lnTo>
                <a:lnTo>
                  <a:pt x="0" y="5122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380976" y="2475095"/>
            <a:ext cx="3874545" cy="5122596"/>
          </a:xfrm>
          <a:custGeom>
            <a:avLst/>
            <a:gdLst/>
            <a:ahLst/>
            <a:cxnLst/>
            <a:rect r="r" b="b" t="t" l="l"/>
            <a:pathLst>
              <a:path h="5122596" w="3874545">
                <a:moveTo>
                  <a:pt x="0" y="0"/>
                </a:moveTo>
                <a:lnTo>
                  <a:pt x="3874545" y="0"/>
                </a:lnTo>
                <a:lnTo>
                  <a:pt x="3874545" y="5122595"/>
                </a:lnTo>
                <a:lnTo>
                  <a:pt x="0" y="51225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495732" y="3214319"/>
            <a:ext cx="3874545" cy="5122596"/>
          </a:xfrm>
          <a:custGeom>
            <a:avLst/>
            <a:gdLst/>
            <a:ahLst/>
            <a:cxnLst/>
            <a:rect r="r" b="b" t="t" l="l"/>
            <a:pathLst>
              <a:path h="5122596" w="3874545">
                <a:moveTo>
                  <a:pt x="0" y="0"/>
                </a:moveTo>
                <a:lnTo>
                  <a:pt x="3874545" y="0"/>
                </a:lnTo>
                <a:lnTo>
                  <a:pt x="3874545" y="5122596"/>
                </a:lnTo>
                <a:lnTo>
                  <a:pt x="0" y="51225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6912767" cy="10287000"/>
          </a:xfrm>
          <a:custGeom>
            <a:avLst/>
            <a:gdLst/>
            <a:ahLst/>
            <a:cxnLst/>
            <a:rect r="r" b="b" t="t" l="l"/>
            <a:pathLst>
              <a:path h="10287000" w="6912767">
                <a:moveTo>
                  <a:pt x="0" y="0"/>
                </a:moveTo>
                <a:lnTo>
                  <a:pt x="6912767" y="0"/>
                </a:lnTo>
                <a:lnTo>
                  <a:pt x="6912767" y="10287000"/>
                </a:lnTo>
                <a:lnTo>
                  <a:pt x="0" y="10287000"/>
                </a:lnTo>
                <a:lnTo>
                  <a:pt x="0" y="0"/>
                </a:lnTo>
                <a:close/>
              </a:path>
            </a:pathLst>
          </a:custGeom>
          <a:blipFill>
            <a:blip r:embed="rId2"/>
            <a:stretch>
              <a:fillRect l="-26224" t="0" r="-96992" b="0"/>
            </a:stretch>
          </a:blipFill>
        </p:spPr>
      </p:sp>
      <p:grpSp>
        <p:nvGrpSpPr>
          <p:cNvPr name="Group 3" id="3"/>
          <p:cNvGrpSpPr/>
          <p:nvPr/>
        </p:nvGrpSpPr>
        <p:grpSpPr>
          <a:xfrm rot="0">
            <a:off x="7945464" y="2864320"/>
            <a:ext cx="9313836" cy="4558359"/>
            <a:chOff x="0" y="0"/>
            <a:chExt cx="12418448" cy="6077813"/>
          </a:xfrm>
        </p:grpSpPr>
        <p:sp>
          <p:nvSpPr>
            <p:cNvPr name="TextBox 4" id="4"/>
            <p:cNvSpPr txBox="true"/>
            <p:nvPr/>
          </p:nvSpPr>
          <p:spPr>
            <a:xfrm rot="0">
              <a:off x="0" y="71120"/>
              <a:ext cx="12418448" cy="1219200"/>
            </a:xfrm>
            <a:prstGeom prst="rect">
              <a:avLst/>
            </a:prstGeom>
          </p:spPr>
          <p:txBody>
            <a:bodyPr anchor="t" rtlCol="false" tIns="0" lIns="0" bIns="0" rIns="0">
              <a:spAutoFit/>
            </a:bodyPr>
            <a:lstStyle/>
            <a:p>
              <a:pPr algn="l">
                <a:lnSpc>
                  <a:spcPts val="7230"/>
                </a:lnSpc>
              </a:pPr>
              <a:r>
                <a:rPr lang="en-US" sz="6025" b="true">
                  <a:solidFill>
                    <a:srgbClr val="2B4B82"/>
                  </a:solidFill>
                  <a:latin typeface="Josefin Sans Bold"/>
                  <a:ea typeface="Josefin Sans Bold"/>
                  <a:cs typeface="Josefin Sans Bold"/>
                  <a:sym typeface="Josefin Sans Bold"/>
                </a:rPr>
                <a:t>Ảo hóa là gì?</a:t>
              </a:r>
            </a:p>
          </p:txBody>
        </p:sp>
        <p:sp>
          <p:nvSpPr>
            <p:cNvPr name="TextBox 5" id="5"/>
            <p:cNvSpPr txBox="true"/>
            <p:nvPr/>
          </p:nvSpPr>
          <p:spPr>
            <a:xfrm rot="0">
              <a:off x="0" y="1875443"/>
              <a:ext cx="12418448" cy="1550670"/>
            </a:xfrm>
            <a:prstGeom prst="rect">
              <a:avLst/>
            </a:prstGeom>
          </p:spPr>
          <p:txBody>
            <a:bodyPr anchor="t" rtlCol="false" tIns="0" lIns="0" bIns="0" rIns="0">
              <a:spAutoFit/>
            </a:bodyPr>
            <a:lstStyle/>
            <a:p>
              <a:pPr algn="l">
                <a:lnSpc>
                  <a:spcPts val="4994"/>
                </a:lnSpc>
              </a:pPr>
              <a:r>
                <a:rPr lang="en-US" sz="2699" spc="426">
                  <a:solidFill>
                    <a:srgbClr val="2B4B82"/>
                  </a:solidFill>
                  <a:latin typeface="Josefin Sans"/>
                  <a:ea typeface="Josefin Sans"/>
                  <a:cs typeface="Josefin Sans"/>
                  <a:sym typeface="Josefin Sans"/>
                </a:rPr>
                <a:t>Ảo hóa (Virtualization) là quá trình tạo ra một bản sao ảo của một thực thể nào đó</a:t>
              </a:r>
            </a:p>
          </p:txBody>
        </p:sp>
        <p:sp>
          <p:nvSpPr>
            <p:cNvPr name="TextBox 6" id="6"/>
            <p:cNvSpPr txBox="true"/>
            <p:nvPr/>
          </p:nvSpPr>
          <p:spPr>
            <a:xfrm rot="0">
              <a:off x="0" y="4217263"/>
              <a:ext cx="12418448" cy="1870710"/>
            </a:xfrm>
            <a:prstGeom prst="rect">
              <a:avLst/>
            </a:prstGeom>
          </p:spPr>
          <p:txBody>
            <a:bodyPr anchor="t" rtlCol="false" tIns="0" lIns="0" bIns="0" rIns="0">
              <a:spAutoFit/>
            </a:bodyPr>
            <a:lstStyle/>
            <a:p>
              <a:pPr algn="l">
                <a:lnSpc>
                  <a:spcPts val="3780"/>
                </a:lnSpc>
              </a:pPr>
              <a:r>
                <a:rPr lang="en-US" sz="2700">
                  <a:solidFill>
                    <a:srgbClr val="2B4B82"/>
                  </a:solidFill>
                  <a:latin typeface="Josefin Sans"/>
                  <a:ea typeface="Josefin Sans"/>
                  <a:cs typeface="Josefin Sans"/>
                  <a:sym typeface="Josefin Sans"/>
                </a:rPr>
                <a:t>Theo định nghĩa trong CNTT, ảo hóa là công nghệ được thiết kế để tạo ra tầng trung gian giữa hệ thống phần cứng (hardware) và phần mềm (OS)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1331222" y="2660798"/>
            <a:ext cx="6341900" cy="4450968"/>
            <a:chOff x="0" y="0"/>
            <a:chExt cx="8455867" cy="5934623"/>
          </a:xfrm>
        </p:grpSpPr>
        <p:sp>
          <p:nvSpPr>
            <p:cNvPr name="TextBox 3" id="3"/>
            <p:cNvSpPr txBox="true"/>
            <p:nvPr/>
          </p:nvSpPr>
          <p:spPr>
            <a:xfrm rot="0">
              <a:off x="0" y="-19050"/>
              <a:ext cx="8455867" cy="1314450"/>
            </a:xfrm>
            <a:prstGeom prst="rect">
              <a:avLst/>
            </a:prstGeom>
          </p:spPr>
          <p:txBody>
            <a:bodyPr anchor="t" rtlCol="false" tIns="0" lIns="0" bIns="0" rIns="0">
              <a:spAutoFit/>
            </a:bodyPr>
            <a:lstStyle/>
            <a:p>
              <a:pPr algn="l">
                <a:lnSpc>
                  <a:spcPts val="7680"/>
                </a:lnSpc>
              </a:pPr>
              <a:r>
                <a:rPr lang="en-US" sz="6400" b="true">
                  <a:solidFill>
                    <a:srgbClr val="2B4B82"/>
                  </a:solidFill>
                  <a:latin typeface="Josefin Sans Bold"/>
                  <a:ea typeface="Josefin Sans Bold"/>
                  <a:cs typeface="Josefin Sans Bold"/>
                  <a:sym typeface="Josefin Sans Bold"/>
                </a:rPr>
                <a:t>Công dụng</a:t>
              </a:r>
            </a:p>
          </p:txBody>
        </p:sp>
        <p:sp>
          <p:nvSpPr>
            <p:cNvPr name="TextBox 4" id="4"/>
            <p:cNvSpPr txBox="true"/>
            <p:nvPr/>
          </p:nvSpPr>
          <p:spPr>
            <a:xfrm rot="0">
              <a:off x="0" y="3216188"/>
              <a:ext cx="8455867" cy="222059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2B4B82"/>
                  </a:solidFill>
                  <a:latin typeface="Josefin Sans"/>
                  <a:ea typeface="Josefin Sans"/>
                  <a:cs typeface="Josefin Sans"/>
                  <a:sym typeface="Josefin Sans"/>
                </a:rPr>
                <a:t>Giúp quản lý, phân phối tài nguyên phần cứng cho lớp OS ảo hoạt động trên nó</a:t>
              </a:r>
            </a:p>
            <a:p>
              <a:pPr algn="l" marL="518160" indent="-259080" lvl="1">
                <a:lnSpc>
                  <a:spcPts val="3359"/>
                </a:lnSpc>
                <a:buFont typeface="Arial"/>
                <a:buChar char="•"/>
              </a:pPr>
              <a:r>
                <a:rPr lang="en-US" sz="2400">
                  <a:solidFill>
                    <a:srgbClr val="2B4B82"/>
                  </a:solidFill>
                  <a:latin typeface="Josefin Sans"/>
                  <a:ea typeface="Josefin Sans"/>
                  <a:cs typeface="Josefin Sans"/>
                  <a:sym typeface="Josefin Sans"/>
                </a:rPr>
                <a:t>Từ một máy vật lý đơn lẻ, công nghệ ảo hóa giúp tạo ra nhiều máy ảo đọc lập</a:t>
              </a:r>
            </a:p>
          </p:txBody>
        </p:sp>
      </p:grpSp>
      <p:grpSp>
        <p:nvGrpSpPr>
          <p:cNvPr name="Group 5" id="5"/>
          <p:cNvGrpSpPr/>
          <p:nvPr/>
        </p:nvGrpSpPr>
        <p:grpSpPr>
          <a:xfrm rot="0">
            <a:off x="10893831" y="2660798"/>
            <a:ext cx="6023474" cy="3612768"/>
            <a:chOff x="0" y="0"/>
            <a:chExt cx="8031299" cy="4817023"/>
          </a:xfrm>
        </p:grpSpPr>
        <p:sp>
          <p:nvSpPr>
            <p:cNvPr name="TextBox 6" id="6"/>
            <p:cNvSpPr txBox="true"/>
            <p:nvPr/>
          </p:nvSpPr>
          <p:spPr>
            <a:xfrm rot="0">
              <a:off x="0" y="-19050"/>
              <a:ext cx="8031299" cy="1314450"/>
            </a:xfrm>
            <a:prstGeom prst="rect">
              <a:avLst/>
            </a:prstGeom>
          </p:spPr>
          <p:txBody>
            <a:bodyPr anchor="t" rtlCol="false" tIns="0" lIns="0" bIns="0" rIns="0">
              <a:spAutoFit/>
            </a:bodyPr>
            <a:lstStyle/>
            <a:p>
              <a:pPr algn="l">
                <a:lnSpc>
                  <a:spcPts val="7680"/>
                </a:lnSpc>
              </a:pPr>
              <a:r>
                <a:rPr lang="en-US" sz="6400" b="true">
                  <a:solidFill>
                    <a:srgbClr val="2B4B82"/>
                  </a:solidFill>
                  <a:latin typeface="Josefin Sans Bold"/>
                  <a:ea typeface="Josefin Sans Bold"/>
                  <a:cs typeface="Josefin Sans Bold"/>
                  <a:sym typeface="Josefin Sans Bold"/>
                </a:rPr>
                <a:t>Nguyên lý</a:t>
              </a:r>
            </a:p>
          </p:txBody>
        </p:sp>
        <p:sp>
          <p:nvSpPr>
            <p:cNvPr name="TextBox 7" id="7"/>
            <p:cNvSpPr txBox="true"/>
            <p:nvPr/>
          </p:nvSpPr>
          <p:spPr>
            <a:xfrm rot="0">
              <a:off x="0" y="3216188"/>
              <a:ext cx="8031299" cy="166179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2B4B82"/>
                  </a:solidFill>
                  <a:latin typeface="Josefin Sans"/>
                  <a:ea typeface="Josefin Sans"/>
                  <a:cs typeface="Josefin Sans"/>
                  <a:sym typeface="Josefin Sans"/>
                </a:rPr>
                <a:t>Mỗi máy ảo có một thiết lập nguồn hệ thống riêng lẻ; hệ điều hành riêng lẻ và các ứng dụng riêng lẻ</a:t>
              </a:r>
            </a:p>
          </p:txBody>
        </p:sp>
      </p:grpSp>
      <p:sp>
        <p:nvSpPr>
          <p:cNvPr name="Freeform 8" id="8"/>
          <p:cNvSpPr/>
          <p:nvPr/>
        </p:nvSpPr>
        <p:spPr>
          <a:xfrm flipH="false" flipV="false" rot="0">
            <a:off x="0" y="-963412"/>
            <a:ext cx="4597438" cy="2842053"/>
          </a:xfrm>
          <a:custGeom>
            <a:avLst/>
            <a:gdLst/>
            <a:ahLst/>
            <a:cxnLst/>
            <a:rect r="r" b="b" t="t" l="l"/>
            <a:pathLst>
              <a:path h="2842053" w="4597438">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10551837" y="390596"/>
            <a:ext cx="2076668" cy="1276207"/>
          </a:xfrm>
          <a:custGeom>
            <a:avLst/>
            <a:gdLst/>
            <a:ahLst/>
            <a:cxnLst/>
            <a:rect r="r" b="b" t="t" l="l"/>
            <a:pathLst>
              <a:path h="1276207" w="2076668">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3138681" y="-2447996"/>
            <a:ext cx="3837986" cy="4114800"/>
          </a:xfrm>
          <a:custGeom>
            <a:avLst/>
            <a:gdLst/>
            <a:ahLst/>
            <a:cxnLst/>
            <a:rect r="r" b="b" t="t" l="l"/>
            <a:pathLst>
              <a:path h="4114800" w="3837986">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4994246" y="-3759204"/>
            <a:ext cx="5357753" cy="5591583"/>
          </a:xfrm>
          <a:custGeom>
            <a:avLst/>
            <a:gdLst/>
            <a:ahLst/>
            <a:cxnLst/>
            <a:rect r="r" b="b" t="t" l="l"/>
            <a:pathLst>
              <a:path h="5591583" w="535775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1009650"/>
            <a:ext cx="16135350" cy="990600"/>
          </a:xfrm>
          <a:prstGeom prst="rect">
            <a:avLst/>
          </a:prstGeom>
        </p:spPr>
        <p:txBody>
          <a:bodyPr anchor="t" rtlCol="false" tIns="0" lIns="0" bIns="0" rIns="0">
            <a:spAutoFit/>
          </a:bodyPr>
          <a:lstStyle/>
          <a:p>
            <a:pPr algn="ctr">
              <a:lnSpc>
                <a:spcPts val="7680"/>
              </a:lnSpc>
            </a:pPr>
            <a:r>
              <a:rPr lang="en-US" b="true" sz="6400">
                <a:solidFill>
                  <a:srgbClr val="2B4B82"/>
                </a:solidFill>
                <a:latin typeface="Josefin Sans Bold"/>
                <a:ea typeface="Josefin Sans Bold"/>
                <a:cs typeface="Josefin Sans Bold"/>
                <a:sym typeface="Josefin Sans Bold"/>
              </a:rPr>
              <a:t>Cấu tạo của một hệ thống Ảo hóa </a:t>
            </a:r>
          </a:p>
        </p:txBody>
      </p:sp>
      <p:grpSp>
        <p:nvGrpSpPr>
          <p:cNvPr name="Group 3" id="3"/>
          <p:cNvGrpSpPr/>
          <p:nvPr/>
        </p:nvGrpSpPr>
        <p:grpSpPr>
          <a:xfrm rot="0">
            <a:off x="1362003" y="4136756"/>
            <a:ext cx="2459408" cy="3320706"/>
            <a:chOff x="0" y="0"/>
            <a:chExt cx="3279211" cy="4427609"/>
          </a:xfrm>
        </p:grpSpPr>
        <p:sp>
          <p:nvSpPr>
            <p:cNvPr name="TextBox 4" id="4"/>
            <p:cNvSpPr txBox="true"/>
            <p:nvPr/>
          </p:nvSpPr>
          <p:spPr>
            <a:xfrm rot="0">
              <a:off x="0" y="1493211"/>
              <a:ext cx="3279211" cy="2934397"/>
            </a:xfrm>
            <a:prstGeom prst="rect">
              <a:avLst/>
            </a:prstGeom>
          </p:spPr>
          <p:txBody>
            <a:bodyPr anchor="t" rtlCol="false" tIns="0" lIns="0" bIns="0" rIns="0">
              <a:spAutoFit/>
            </a:bodyPr>
            <a:lstStyle/>
            <a:p>
              <a:pPr algn="ctr">
                <a:lnSpc>
                  <a:spcPts val="2940"/>
                </a:lnSpc>
              </a:pPr>
              <a:r>
                <a:rPr lang="en-US" sz="2100">
                  <a:solidFill>
                    <a:srgbClr val="2B4B82"/>
                  </a:solidFill>
                  <a:latin typeface="Josefin Sans"/>
                  <a:ea typeface="Josefin Sans"/>
                  <a:cs typeface="Josefin Sans"/>
                  <a:sym typeface="Josefin Sans"/>
                </a:rPr>
                <a:t>Máy chủ vật lý, CPU, RAM, ổ đĩa cứng, card mạng,… Nhiệm vụ là phân chia tài nguyên cho các máy ảo.</a:t>
              </a:r>
            </a:p>
          </p:txBody>
        </p:sp>
        <p:sp>
          <p:nvSpPr>
            <p:cNvPr name="TextBox 5" id="5"/>
            <p:cNvSpPr txBox="true"/>
            <p:nvPr/>
          </p:nvSpPr>
          <p:spPr>
            <a:xfrm rot="0">
              <a:off x="0" y="-66675"/>
              <a:ext cx="3279211" cy="1112211"/>
            </a:xfrm>
            <a:prstGeom prst="rect">
              <a:avLst/>
            </a:prstGeom>
          </p:spPr>
          <p:txBody>
            <a:bodyPr anchor="t" rtlCol="false" tIns="0" lIns="0" bIns="0" rIns="0">
              <a:spAutoFit/>
            </a:bodyPr>
            <a:lstStyle/>
            <a:p>
              <a:pPr algn="ctr">
                <a:lnSpc>
                  <a:spcPts val="3359"/>
                </a:lnSpc>
              </a:pPr>
              <a:r>
                <a:rPr lang="en-US" b="true" sz="2400">
                  <a:solidFill>
                    <a:srgbClr val="2B4B82"/>
                  </a:solidFill>
                  <a:latin typeface="Josefin Sans Bold"/>
                  <a:ea typeface="Josefin Sans Bold"/>
                  <a:cs typeface="Josefin Sans Bold"/>
                  <a:sym typeface="Josefin Sans Bold"/>
                </a:rPr>
                <a:t>Tài nguyên vật lý chính (Host)</a:t>
              </a:r>
            </a:p>
          </p:txBody>
        </p:sp>
      </p:grpSp>
      <p:grpSp>
        <p:nvGrpSpPr>
          <p:cNvPr name="Group 6" id="6"/>
          <p:cNvGrpSpPr/>
          <p:nvPr/>
        </p:nvGrpSpPr>
        <p:grpSpPr>
          <a:xfrm rot="0">
            <a:off x="2301665" y="3082868"/>
            <a:ext cx="13589421" cy="695007"/>
            <a:chOff x="0" y="0"/>
            <a:chExt cx="18119228" cy="926677"/>
          </a:xfrm>
        </p:grpSpPr>
        <p:sp>
          <p:nvSpPr>
            <p:cNvPr name="TextBox 7" id="7"/>
            <p:cNvSpPr txBox="true"/>
            <p:nvPr/>
          </p:nvSpPr>
          <p:spPr>
            <a:xfrm rot="0">
              <a:off x="0" y="-72178"/>
              <a:ext cx="804493" cy="998855"/>
            </a:xfrm>
            <a:prstGeom prst="rect">
              <a:avLst/>
            </a:prstGeom>
          </p:spPr>
          <p:txBody>
            <a:bodyPr anchor="t" rtlCol="false" tIns="0" lIns="0" bIns="0" rIns="0">
              <a:spAutoFit/>
            </a:bodyPr>
            <a:lstStyle/>
            <a:p>
              <a:pPr algn="ctr">
                <a:lnSpc>
                  <a:spcPts val="6160"/>
                </a:lnSpc>
              </a:pPr>
              <a:r>
                <a:rPr lang="en-US" b="true" sz="4400" spc="752">
                  <a:solidFill>
                    <a:srgbClr val="2B4B82"/>
                  </a:solidFill>
                  <a:latin typeface="Josefin Sans Bold"/>
                  <a:ea typeface="Josefin Sans Bold"/>
                  <a:cs typeface="Josefin Sans Bold"/>
                  <a:sym typeface="Josefin Sans Bold"/>
                </a:rPr>
                <a:t>1</a:t>
              </a:r>
            </a:p>
          </p:txBody>
        </p:sp>
        <p:sp>
          <p:nvSpPr>
            <p:cNvPr name="TextBox 8" id="8"/>
            <p:cNvSpPr txBox="true"/>
            <p:nvPr/>
          </p:nvSpPr>
          <p:spPr>
            <a:xfrm rot="0">
              <a:off x="5774350" y="-72178"/>
              <a:ext cx="804493" cy="998855"/>
            </a:xfrm>
            <a:prstGeom prst="rect">
              <a:avLst/>
            </a:prstGeom>
          </p:spPr>
          <p:txBody>
            <a:bodyPr anchor="t" rtlCol="false" tIns="0" lIns="0" bIns="0" rIns="0">
              <a:spAutoFit/>
            </a:bodyPr>
            <a:lstStyle/>
            <a:p>
              <a:pPr algn="ctr">
                <a:lnSpc>
                  <a:spcPts val="6160"/>
                </a:lnSpc>
              </a:pPr>
              <a:r>
                <a:rPr lang="en-US" b="true" sz="4400" spc="752">
                  <a:solidFill>
                    <a:srgbClr val="2B4B82"/>
                  </a:solidFill>
                  <a:latin typeface="Josefin Sans Bold"/>
                  <a:ea typeface="Josefin Sans Bold"/>
                  <a:cs typeface="Josefin Sans Bold"/>
                  <a:sym typeface="Josefin Sans Bold"/>
                </a:rPr>
                <a:t>2</a:t>
              </a:r>
            </a:p>
          </p:txBody>
        </p:sp>
        <p:sp>
          <p:nvSpPr>
            <p:cNvPr name="TextBox 9" id="9"/>
            <p:cNvSpPr txBox="true"/>
            <p:nvPr/>
          </p:nvSpPr>
          <p:spPr>
            <a:xfrm rot="0">
              <a:off x="11544543" y="-85725"/>
              <a:ext cx="804493" cy="998855"/>
            </a:xfrm>
            <a:prstGeom prst="rect">
              <a:avLst/>
            </a:prstGeom>
          </p:spPr>
          <p:txBody>
            <a:bodyPr anchor="t" rtlCol="false" tIns="0" lIns="0" bIns="0" rIns="0">
              <a:spAutoFit/>
            </a:bodyPr>
            <a:lstStyle/>
            <a:p>
              <a:pPr algn="ctr">
                <a:lnSpc>
                  <a:spcPts val="6160"/>
                </a:lnSpc>
              </a:pPr>
              <a:r>
                <a:rPr lang="en-US" b="true" sz="4400" spc="752">
                  <a:solidFill>
                    <a:srgbClr val="2B4B82"/>
                  </a:solidFill>
                  <a:latin typeface="Josefin Sans Bold"/>
                  <a:ea typeface="Josefin Sans Bold"/>
                  <a:cs typeface="Josefin Sans Bold"/>
                  <a:sym typeface="Josefin Sans Bold"/>
                </a:rPr>
                <a:t>3</a:t>
              </a:r>
            </a:p>
          </p:txBody>
        </p:sp>
        <p:sp>
          <p:nvSpPr>
            <p:cNvPr name="TextBox 10" id="10"/>
            <p:cNvSpPr txBox="true"/>
            <p:nvPr/>
          </p:nvSpPr>
          <p:spPr>
            <a:xfrm rot="0">
              <a:off x="17314735" y="-104775"/>
              <a:ext cx="804493" cy="998855"/>
            </a:xfrm>
            <a:prstGeom prst="rect">
              <a:avLst/>
            </a:prstGeom>
          </p:spPr>
          <p:txBody>
            <a:bodyPr anchor="t" rtlCol="false" tIns="0" lIns="0" bIns="0" rIns="0">
              <a:spAutoFit/>
            </a:bodyPr>
            <a:lstStyle/>
            <a:p>
              <a:pPr algn="ctr">
                <a:lnSpc>
                  <a:spcPts val="6160"/>
                </a:lnSpc>
              </a:pPr>
              <a:r>
                <a:rPr lang="en-US" b="true" sz="4400" spc="752">
                  <a:solidFill>
                    <a:srgbClr val="2B4B82"/>
                  </a:solidFill>
                  <a:latin typeface="Josefin Sans Bold"/>
                  <a:ea typeface="Josefin Sans Bold"/>
                  <a:cs typeface="Josefin Sans Bold"/>
                  <a:sym typeface="Josefin Sans Bold"/>
                </a:rPr>
                <a:t>4</a:t>
              </a:r>
            </a:p>
          </p:txBody>
        </p:sp>
        <p:sp>
          <p:nvSpPr>
            <p:cNvPr name="AutoShape 11" id="11"/>
            <p:cNvSpPr/>
            <p:nvPr/>
          </p:nvSpPr>
          <p:spPr>
            <a:xfrm>
              <a:off x="804493" y="447040"/>
              <a:ext cx="4969858" cy="32597"/>
            </a:xfrm>
            <a:prstGeom prst="line">
              <a:avLst/>
            </a:prstGeom>
            <a:ln cap="flat" w="38100">
              <a:solidFill>
                <a:srgbClr val="2B4B82"/>
              </a:solidFill>
              <a:prstDash val="solid"/>
              <a:headEnd type="none" len="sm" w="sm"/>
              <a:tailEnd type="none" len="sm" w="sm"/>
            </a:ln>
          </p:spPr>
        </p:sp>
        <p:sp>
          <p:nvSpPr>
            <p:cNvPr name="AutoShape 12" id="12"/>
            <p:cNvSpPr/>
            <p:nvPr/>
          </p:nvSpPr>
          <p:spPr>
            <a:xfrm>
              <a:off x="6578843" y="447040"/>
              <a:ext cx="4965700" cy="19050"/>
            </a:xfrm>
            <a:prstGeom prst="line">
              <a:avLst/>
            </a:prstGeom>
            <a:ln cap="flat" w="38100">
              <a:solidFill>
                <a:srgbClr val="2B4B82"/>
              </a:solidFill>
              <a:prstDash val="solid"/>
              <a:headEnd type="none" len="sm" w="sm"/>
              <a:tailEnd type="none" len="sm" w="sm"/>
            </a:ln>
          </p:spPr>
        </p:sp>
        <p:sp>
          <p:nvSpPr>
            <p:cNvPr name="AutoShape 13" id="13"/>
            <p:cNvSpPr/>
            <p:nvPr/>
          </p:nvSpPr>
          <p:spPr>
            <a:xfrm flipV="true">
              <a:off x="12349035" y="447040"/>
              <a:ext cx="4965700" cy="19050"/>
            </a:xfrm>
            <a:prstGeom prst="line">
              <a:avLst/>
            </a:prstGeom>
            <a:ln cap="flat" w="38100">
              <a:solidFill>
                <a:srgbClr val="2B4B82"/>
              </a:solidFill>
              <a:prstDash val="solid"/>
              <a:headEnd type="none" len="sm" w="sm"/>
              <a:tailEnd type="none" len="sm" w="sm"/>
            </a:ln>
          </p:spPr>
        </p:sp>
      </p:grpSp>
      <p:grpSp>
        <p:nvGrpSpPr>
          <p:cNvPr name="Group 14" id="14"/>
          <p:cNvGrpSpPr/>
          <p:nvPr/>
        </p:nvGrpSpPr>
        <p:grpSpPr>
          <a:xfrm rot="0">
            <a:off x="5860281" y="4136756"/>
            <a:ext cx="2502722" cy="4429916"/>
            <a:chOff x="0" y="0"/>
            <a:chExt cx="3336963" cy="5906555"/>
          </a:xfrm>
        </p:grpSpPr>
        <p:sp>
          <p:nvSpPr>
            <p:cNvPr name="TextBox 15" id="15"/>
            <p:cNvSpPr txBox="true"/>
            <p:nvPr/>
          </p:nvSpPr>
          <p:spPr>
            <a:xfrm rot="0">
              <a:off x="0" y="1493211"/>
              <a:ext cx="3336963" cy="4413344"/>
            </a:xfrm>
            <a:prstGeom prst="rect">
              <a:avLst/>
            </a:prstGeom>
          </p:spPr>
          <p:txBody>
            <a:bodyPr anchor="t" rtlCol="false" tIns="0" lIns="0" bIns="0" rIns="0">
              <a:spAutoFit/>
            </a:bodyPr>
            <a:lstStyle/>
            <a:p>
              <a:pPr algn="ctr">
                <a:lnSpc>
                  <a:spcPts val="2940"/>
                </a:lnSpc>
              </a:pPr>
              <a:r>
                <a:rPr lang="en-US" sz="2100">
                  <a:solidFill>
                    <a:srgbClr val="2B4B82"/>
                  </a:solidFill>
                  <a:latin typeface="Josefin Sans"/>
                  <a:ea typeface="Josefin Sans"/>
                  <a:cs typeface="Josefin Sans"/>
                  <a:sym typeface="Josefin Sans"/>
                </a:rPr>
                <a:t>Cung cấp truy cập cho mỗi máy chủ ảo đến tài nguyên của máy chủ vật lý, cung cấp giao diện quản lý cho các máy chủ ảo và phân chia tài nguyên vật lý cho các máy chủ ảo.</a:t>
              </a:r>
            </a:p>
          </p:txBody>
        </p:sp>
        <p:sp>
          <p:nvSpPr>
            <p:cNvPr name="TextBox 16" id="16"/>
            <p:cNvSpPr txBox="true"/>
            <p:nvPr/>
          </p:nvSpPr>
          <p:spPr>
            <a:xfrm rot="0">
              <a:off x="0" y="-66675"/>
              <a:ext cx="3336963" cy="1112211"/>
            </a:xfrm>
            <a:prstGeom prst="rect">
              <a:avLst/>
            </a:prstGeom>
          </p:spPr>
          <p:txBody>
            <a:bodyPr anchor="t" rtlCol="false" tIns="0" lIns="0" bIns="0" rIns="0">
              <a:spAutoFit/>
            </a:bodyPr>
            <a:lstStyle/>
            <a:p>
              <a:pPr algn="ctr">
                <a:lnSpc>
                  <a:spcPts val="3359"/>
                </a:lnSpc>
              </a:pPr>
              <a:r>
                <a:rPr lang="en-US" b="true" sz="2400">
                  <a:solidFill>
                    <a:srgbClr val="2B4B82"/>
                  </a:solidFill>
                  <a:latin typeface="Josefin Sans Bold"/>
                  <a:ea typeface="Josefin Sans Bold"/>
                  <a:cs typeface="Josefin Sans Bold"/>
                  <a:sym typeface="Josefin Sans Bold"/>
                </a:rPr>
                <a:t>Phần mềm ảo hóa (Hypervisor)</a:t>
              </a:r>
            </a:p>
          </p:txBody>
        </p:sp>
      </p:grpSp>
      <p:grpSp>
        <p:nvGrpSpPr>
          <p:cNvPr name="Group 17" id="17"/>
          <p:cNvGrpSpPr/>
          <p:nvPr/>
        </p:nvGrpSpPr>
        <p:grpSpPr>
          <a:xfrm rot="0">
            <a:off x="10115083" y="4321624"/>
            <a:ext cx="2459408" cy="2950970"/>
            <a:chOff x="0" y="0"/>
            <a:chExt cx="3279211" cy="3934626"/>
          </a:xfrm>
        </p:grpSpPr>
        <p:sp>
          <p:nvSpPr>
            <p:cNvPr name="TextBox 18" id="18"/>
            <p:cNvSpPr txBox="true"/>
            <p:nvPr/>
          </p:nvSpPr>
          <p:spPr>
            <a:xfrm rot="0">
              <a:off x="0" y="1493211"/>
              <a:ext cx="3279211" cy="2441415"/>
            </a:xfrm>
            <a:prstGeom prst="rect">
              <a:avLst/>
            </a:prstGeom>
          </p:spPr>
          <p:txBody>
            <a:bodyPr anchor="t" rtlCol="false" tIns="0" lIns="0" bIns="0" rIns="0">
              <a:spAutoFit/>
            </a:bodyPr>
            <a:lstStyle/>
            <a:p>
              <a:pPr algn="ctr">
                <a:lnSpc>
                  <a:spcPts val="2940"/>
                </a:lnSpc>
              </a:pPr>
              <a:r>
                <a:rPr lang="en-US" sz="2100">
                  <a:solidFill>
                    <a:srgbClr val="2B4B82"/>
                  </a:solidFill>
                  <a:latin typeface="Josefin Sans"/>
                  <a:ea typeface="Josefin Sans"/>
                  <a:cs typeface="Josefin Sans"/>
                  <a:sym typeface="Josefin Sans"/>
                </a:rPr>
                <a:t>Được cài đặt trên một máy chủ ảo và thao tác như ở trên hệ điều hành thông thường.</a:t>
              </a:r>
            </a:p>
          </p:txBody>
        </p:sp>
        <p:sp>
          <p:nvSpPr>
            <p:cNvPr name="TextBox 19" id="19"/>
            <p:cNvSpPr txBox="true"/>
            <p:nvPr/>
          </p:nvSpPr>
          <p:spPr>
            <a:xfrm rot="0">
              <a:off x="0" y="-66675"/>
              <a:ext cx="3279211" cy="1112211"/>
            </a:xfrm>
            <a:prstGeom prst="rect">
              <a:avLst/>
            </a:prstGeom>
          </p:spPr>
          <p:txBody>
            <a:bodyPr anchor="t" rtlCol="false" tIns="0" lIns="0" bIns="0" rIns="0">
              <a:spAutoFit/>
            </a:bodyPr>
            <a:lstStyle/>
            <a:p>
              <a:pPr algn="ctr">
                <a:lnSpc>
                  <a:spcPts val="3359"/>
                </a:lnSpc>
              </a:pPr>
              <a:r>
                <a:rPr lang="en-US" b="true" sz="2400">
                  <a:solidFill>
                    <a:srgbClr val="2B4B82"/>
                  </a:solidFill>
                  <a:latin typeface="Josefin Sans Bold"/>
                  <a:ea typeface="Josefin Sans Bold"/>
                  <a:cs typeface="Josefin Sans Bold"/>
                  <a:sym typeface="Josefin Sans Bold"/>
                </a:rPr>
                <a:t>Hệ điều hành khách (Guest)</a:t>
              </a:r>
            </a:p>
          </p:txBody>
        </p:sp>
      </p:grpSp>
      <p:grpSp>
        <p:nvGrpSpPr>
          <p:cNvPr name="Group 20" id="20"/>
          <p:cNvGrpSpPr/>
          <p:nvPr/>
        </p:nvGrpSpPr>
        <p:grpSpPr>
          <a:xfrm rot="0">
            <a:off x="14469966" y="4136756"/>
            <a:ext cx="2459408" cy="3320706"/>
            <a:chOff x="0" y="0"/>
            <a:chExt cx="3279211" cy="4427609"/>
          </a:xfrm>
        </p:grpSpPr>
        <p:sp>
          <p:nvSpPr>
            <p:cNvPr name="TextBox 21" id="21"/>
            <p:cNvSpPr txBox="true"/>
            <p:nvPr/>
          </p:nvSpPr>
          <p:spPr>
            <a:xfrm rot="0">
              <a:off x="0" y="1493211"/>
              <a:ext cx="3279211" cy="2934397"/>
            </a:xfrm>
            <a:prstGeom prst="rect">
              <a:avLst/>
            </a:prstGeom>
          </p:spPr>
          <p:txBody>
            <a:bodyPr anchor="t" rtlCol="false" tIns="0" lIns="0" bIns="0" rIns="0">
              <a:spAutoFit/>
            </a:bodyPr>
            <a:lstStyle/>
            <a:p>
              <a:pPr algn="ctr">
                <a:lnSpc>
                  <a:spcPts val="2940"/>
                </a:lnSpc>
              </a:pPr>
              <a:r>
                <a:rPr lang="en-US" sz="2100">
                  <a:solidFill>
                    <a:srgbClr val="2B4B82"/>
                  </a:solidFill>
                  <a:latin typeface="Josefin Sans"/>
                  <a:ea typeface="Josefin Sans"/>
                  <a:cs typeface="Josefin Sans"/>
                  <a:sym typeface="Josefin Sans"/>
                </a:rPr>
                <a:t>Hoạt động như một máy chủ vật lý thông thường; với tài nguyên, giao diện và hệ điều hành riêng.</a:t>
              </a:r>
            </a:p>
          </p:txBody>
        </p:sp>
        <p:sp>
          <p:nvSpPr>
            <p:cNvPr name="TextBox 22" id="22"/>
            <p:cNvSpPr txBox="true"/>
            <p:nvPr/>
          </p:nvSpPr>
          <p:spPr>
            <a:xfrm rot="0">
              <a:off x="0" y="-66675"/>
              <a:ext cx="3279211" cy="1112211"/>
            </a:xfrm>
            <a:prstGeom prst="rect">
              <a:avLst/>
            </a:prstGeom>
          </p:spPr>
          <p:txBody>
            <a:bodyPr anchor="t" rtlCol="false" tIns="0" lIns="0" bIns="0" rIns="0">
              <a:spAutoFit/>
            </a:bodyPr>
            <a:lstStyle/>
            <a:p>
              <a:pPr algn="ctr">
                <a:lnSpc>
                  <a:spcPts val="3359"/>
                </a:lnSpc>
              </a:pPr>
              <a:r>
                <a:rPr lang="en-US" b="true" sz="2400">
                  <a:solidFill>
                    <a:srgbClr val="2B4B82"/>
                  </a:solidFill>
                  <a:latin typeface="Josefin Sans Bold"/>
                  <a:ea typeface="Josefin Sans Bold"/>
                  <a:cs typeface="Josefin Sans Bold"/>
                  <a:sym typeface="Josefin Sans Bold"/>
                </a:rPr>
                <a:t>Máy ảo (Virtual Machine)</a:t>
              </a: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7B4A7"/>
        </a:solidFill>
      </p:bgPr>
    </p:bg>
    <p:spTree>
      <p:nvGrpSpPr>
        <p:cNvPr id="1" name=""/>
        <p:cNvGrpSpPr/>
        <p:nvPr/>
      </p:nvGrpSpPr>
      <p:grpSpPr>
        <a:xfrm>
          <a:off x="0" y="0"/>
          <a:ext cx="0" cy="0"/>
          <a:chOff x="0" y="0"/>
          <a:chExt cx="0" cy="0"/>
        </a:xfrm>
      </p:grpSpPr>
      <p:grpSp>
        <p:nvGrpSpPr>
          <p:cNvPr name="Group 2" id="2"/>
          <p:cNvGrpSpPr/>
          <p:nvPr/>
        </p:nvGrpSpPr>
        <p:grpSpPr>
          <a:xfrm rot="0">
            <a:off x="946160" y="824590"/>
            <a:ext cx="9569415" cy="1730763"/>
            <a:chOff x="0" y="0"/>
            <a:chExt cx="12759220" cy="2307684"/>
          </a:xfrm>
        </p:grpSpPr>
        <p:sp>
          <p:nvSpPr>
            <p:cNvPr name="TextBox 3" id="3"/>
            <p:cNvSpPr txBox="true"/>
            <p:nvPr/>
          </p:nvSpPr>
          <p:spPr>
            <a:xfrm rot="0">
              <a:off x="0" y="190500"/>
              <a:ext cx="12759220" cy="1447800"/>
            </a:xfrm>
            <a:prstGeom prst="rect">
              <a:avLst/>
            </a:prstGeom>
          </p:spPr>
          <p:txBody>
            <a:bodyPr anchor="t" rtlCol="false" tIns="0" lIns="0" bIns="0" rIns="0">
              <a:spAutoFit/>
            </a:bodyPr>
            <a:lstStyle/>
            <a:p>
              <a:pPr algn="l">
                <a:lnSpc>
                  <a:spcPts val="7694"/>
                </a:lnSpc>
              </a:pPr>
              <a:r>
                <a:rPr lang="en-US" sz="8099" spc="-80" b="true">
                  <a:solidFill>
                    <a:srgbClr val="2B4B82"/>
                  </a:solidFill>
                  <a:latin typeface="Josefin Sans Bold"/>
                  <a:ea typeface="Josefin Sans Bold"/>
                  <a:cs typeface="Josefin Sans Bold"/>
                  <a:sym typeface="Josefin Sans Bold"/>
                </a:rPr>
                <a:t>Phân loại Ảo hóa</a:t>
              </a:r>
            </a:p>
          </p:txBody>
        </p:sp>
        <p:sp>
          <p:nvSpPr>
            <p:cNvPr name="TextBox 4" id="4"/>
            <p:cNvSpPr txBox="true"/>
            <p:nvPr/>
          </p:nvSpPr>
          <p:spPr>
            <a:xfrm rot="0">
              <a:off x="0" y="1689787"/>
              <a:ext cx="12759220" cy="620014"/>
            </a:xfrm>
            <a:prstGeom prst="rect">
              <a:avLst/>
            </a:prstGeom>
          </p:spPr>
          <p:txBody>
            <a:bodyPr anchor="t" rtlCol="false" tIns="0" lIns="0" bIns="0" rIns="0">
              <a:spAutoFit/>
            </a:bodyPr>
            <a:lstStyle/>
            <a:p>
              <a:pPr algn="l">
                <a:lnSpc>
                  <a:spcPts val="4055"/>
                </a:lnSpc>
              </a:pPr>
              <a:r>
                <a:rPr lang="en-US" sz="2399" spc="479">
                  <a:solidFill>
                    <a:srgbClr val="2B4B82"/>
                  </a:solidFill>
                  <a:latin typeface="Josefin Sans"/>
                  <a:ea typeface="Josefin Sans"/>
                  <a:cs typeface="Josefin Sans"/>
                  <a:sym typeface="Josefin Sans"/>
                </a:rPr>
                <a:t>CÓ 4 LOẠI ẢO HÓA CHÍNH:</a:t>
              </a:r>
            </a:p>
          </p:txBody>
        </p:sp>
      </p:grpSp>
      <p:grpSp>
        <p:nvGrpSpPr>
          <p:cNvPr name="Group 5" id="5"/>
          <p:cNvGrpSpPr/>
          <p:nvPr/>
        </p:nvGrpSpPr>
        <p:grpSpPr>
          <a:xfrm rot="0">
            <a:off x="946160" y="3687336"/>
            <a:ext cx="4391121" cy="5434471"/>
            <a:chOff x="0" y="0"/>
            <a:chExt cx="5854827" cy="7245961"/>
          </a:xfrm>
        </p:grpSpPr>
        <p:sp>
          <p:nvSpPr>
            <p:cNvPr name="TextBox 6" id="6"/>
            <p:cNvSpPr txBox="true"/>
            <p:nvPr/>
          </p:nvSpPr>
          <p:spPr>
            <a:xfrm rot="0">
              <a:off x="0" y="-57150"/>
              <a:ext cx="5854827" cy="1302947"/>
            </a:xfrm>
            <a:prstGeom prst="rect">
              <a:avLst/>
            </a:prstGeom>
          </p:spPr>
          <p:txBody>
            <a:bodyPr anchor="t" rtlCol="false" tIns="0" lIns="0" bIns="0" rIns="0">
              <a:spAutoFit/>
            </a:bodyPr>
            <a:lstStyle/>
            <a:p>
              <a:pPr algn="l">
                <a:lnSpc>
                  <a:spcPts val="3992"/>
                </a:lnSpc>
              </a:pPr>
              <a:r>
                <a:rPr lang="en-US" sz="2852" b="true">
                  <a:solidFill>
                    <a:srgbClr val="2B4B82"/>
                  </a:solidFill>
                  <a:latin typeface="Josefin Sans Bold"/>
                  <a:ea typeface="Josefin Sans Bold"/>
                  <a:cs typeface="Josefin Sans Bold"/>
                  <a:sym typeface="Josefin Sans Bold"/>
                </a:rPr>
                <a:t>Full Virtualization </a:t>
              </a:r>
            </a:p>
            <a:p>
              <a:pPr algn="l">
                <a:lnSpc>
                  <a:spcPts val="3992"/>
                </a:lnSpc>
              </a:pPr>
              <a:r>
                <a:rPr lang="en-US" sz="2852" b="true">
                  <a:solidFill>
                    <a:srgbClr val="2B4B82"/>
                  </a:solidFill>
                  <a:latin typeface="Josefin Sans Bold"/>
                  <a:ea typeface="Josefin Sans Bold"/>
                  <a:cs typeface="Josefin Sans Bold"/>
                  <a:sym typeface="Josefin Sans Bold"/>
                </a:rPr>
                <a:t>(Ảo hóa toàn phần)</a:t>
              </a:r>
            </a:p>
          </p:txBody>
        </p:sp>
        <p:sp>
          <p:nvSpPr>
            <p:cNvPr name="TextBox 7" id="7"/>
            <p:cNvSpPr txBox="true"/>
            <p:nvPr/>
          </p:nvSpPr>
          <p:spPr>
            <a:xfrm rot="0">
              <a:off x="0" y="1408564"/>
              <a:ext cx="5854827" cy="4554269"/>
            </a:xfrm>
            <a:prstGeom prst="rect">
              <a:avLst/>
            </a:prstGeom>
          </p:spPr>
          <p:txBody>
            <a:bodyPr anchor="t" rtlCol="false" tIns="0" lIns="0" bIns="0" rIns="0">
              <a:spAutoFit/>
            </a:bodyPr>
            <a:lstStyle/>
            <a:p>
              <a:pPr algn="l">
                <a:lnSpc>
                  <a:spcPts val="3422"/>
                </a:lnSpc>
              </a:pPr>
              <a:r>
                <a:rPr lang="en-US" sz="2444">
                  <a:solidFill>
                    <a:srgbClr val="2B4B82"/>
                  </a:solidFill>
                  <a:latin typeface="Josefin Sans"/>
                  <a:ea typeface="Josefin Sans"/>
                  <a:cs typeface="Josefin Sans"/>
                  <a:sym typeface="Josefin Sans"/>
                </a:rPr>
                <a:t>Là một loại ảo hóa phổ biến, về cơ bản là phương pháp tách biệt hoàn toàn phần cứng, hệ điều hành, dịch vụ của máy ảo với máy chủ và trong ảo hóa toàn phần, máy ảo sẽ không khác nhiều so với một máy thật.</a:t>
              </a:r>
            </a:p>
          </p:txBody>
        </p:sp>
        <p:sp>
          <p:nvSpPr>
            <p:cNvPr name="TextBox 8" id="8"/>
            <p:cNvSpPr txBox="true"/>
            <p:nvPr/>
          </p:nvSpPr>
          <p:spPr>
            <a:xfrm rot="0">
              <a:off x="0" y="6126625"/>
              <a:ext cx="5854827" cy="1119336"/>
            </a:xfrm>
            <a:prstGeom prst="rect">
              <a:avLst/>
            </a:prstGeom>
          </p:spPr>
          <p:txBody>
            <a:bodyPr anchor="t" rtlCol="false" tIns="0" lIns="0" bIns="0" rIns="0">
              <a:spAutoFit/>
            </a:bodyPr>
            <a:lstStyle/>
            <a:p>
              <a:pPr algn="l">
                <a:lnSpc>
                  <a:spcPts val="3422"/>
                </a:lnSpc>
              </a:pPr>
              <a:r>
                <a:rPr lang="en-US" sz="2444">
                  <a:solidFill>
                    <a:srgbClr val="2B4B82"/>
                  </a:solidFill>
                  <a:latin typeface="Josefin Sans"/>
                  <a:ea typeface="Josefin Sans"/>
                  <a:cs typeface="Josefin Sans"/>
                  <a:sym typeface="Josefin Sans"/>
                </a:rPr>
                <a:t>VD: KVM, VirtualBox, VMware ESXi, MS Hyper-V,…</a:t>
              </a:r>
            </a:p>
          </p:txBody>
        </p:sp>
      </p:grpSp>
      <p:grpSp>
        <p:nvGrpSpPr>
          <p:cNvPr name="Group 9" id="9"/>
          <p:cNvGrpSpPr/>
          <p:nvPr/>
        </p:nvGrpSpPr>
        <p:grpSpPr>
          <a:xfrm rot="0">
            <a:off x="10970373" y="3687336"/>
            <a:ext cx="4390744" cy="3716685"/>
            <a:chOff x="0" y="0"/>
            <a:chExt cx="5854325" cy="4955580"/>
          </a:xfrm>
        </p:grpSpPr>
        <p:sp>
          <p:nvSpPr>
            <p:cNvPr name="TextBox 10" id="10"/>
            <p:cNvSpPr txBox="true"/>
            <p:nvPr/>
          </p:nvSpPr>
          <p:spPr>
            <a:xfrm rot="0">
              <a:off x="0" y="-57150"/>
              <a:ext cx="5854325" cy="1302840"/>
            </a:xfrm>
            <a:prstGeom prst="rect">
              <a:avLst/>
            </a:prstGeom>
          </p:spPr>
          <p:txBody>
            <a:bodyPr anchor="t" rtlCol="false" tIns="0" lIns="0" bIns="0" rIns="0">
              <a:spAutoFit/>
            </a:bodyPr>
            <a:lstStyle/>
            <a:p>
              <a:pPr algn="l">
                <a:lnSpc>
                  <a:spcPts val="3992"/>
                </a:lnSpc>
              </a:pPr>
              <a:r>
                <a:rPr lang="en-US" sz="2851" b="true">
                  <a:solidFill>
                    <a:srgbClr val="2B4B82"/>
                  </a:solidFill>
                  <a:latin typeface="Josefin Sans Bold"/>
                  <a:ea typeface="Josefin Sans Bold"/>
                  <a:cs typeface="Josefin Sans Bold"/>
                  <a:sym typeface="Josefin Sans Bold"/>
                </a:rPr>
                <a:t>Partial Virtualization (Ảo hóa một phần)</a:t>
              </a:r>
            </a:p>
          </p:txBody>
        </p:sp>
        <p:sp>
          <p:nvSpPr>
            <p:cNvPr name="TextBox 11" id="11"/>
            <p:cNvSpPr txBox="true"/>
            <p:nvPr/>
          </p:nvSpPr>
          <p:spPr>
            <a:xfrm rot="0">
              <a:off x="0" y="1408438"/>
              <a:ext cx="5854325" cy="2836564"/>
            </a:xfrm>
            <a:prstGeom prst="rect">
              <a:avLst/>
            </a:prstGeom>
          </p:spPr>
          <p:txBody>
            <a:bodyPr anchor="t" rtlCol="false" tIns="0" lIns="0" bIns="0" rIns="0">
              <a:spAutoFit/>
            </a:bodyPr>
            <a:lstStyle/>
            <a:p>
              <a:pPr algn="l">
                <a:lnSpc>
                  <a:spcPts val="3422"/>
                </a:lnSpc>
              </a:pPr>
              <a:r>
                <a:rPr lang="en-US" sz="2444">
                  <a:solidFill>
                    <a:srgbClr val="2B4B82"/>
                  </a:solidFill>
                  <a:latin typeface="Josefin Sans"/>
                  <a:ea typeface="Josefin Sans"/>
                  <a:cs typeface="Josefin Sans"/>
                  <a:sym typeface="Josefin Sans"/>
                </a:rPr>
                <a:t>Tiến hành ảo hóa một số phần cứng nhất định của máy tính, cho phép chạy một số phần mềm để tránh lãng phí tài nguyên</a:t>
              </a:r>
            </a:p>
          </p:txBody>
        </p:sp>
        <p:sp>
          <p:nvSpPr>
            <p:cNvPr name="TextBox 12" id="12"/>
            <p:cNvSpPr txBox="true"/>
            <p:nvPr/>
          </p:nvSpPr>
          <p:spPr>
            <a:xfrm rot="0">
              <a:off x="0" y="4408775"/>
              <a:ext cx="5854325" cy="546805"/>
            </a:xfrm>
            <a:prstGeom prst="rect">
              <a:avLst/>
            </a:prstGeom>
          </p:spPr>
          <p:txBody>
            <a:bodyPr anchor="t" rtlCol="false" tIns="0" lIns="0" bIns="0" rIns="0">
              <a:spAutoFit/>
            </a:bodyPr>
            <a:lstStyle/>
            <a:p>
              <a:pPr algn="l">
                <a:lnSpc>
                  <a:spcPts val="3422"/>
                </a:lnSpc>
              </a:pP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F7B4A7"/>
        </a:solidFill>
      </p:bgPr>
    </p:bg>
    <p:spTree>
      <p:nvGrpSpPr>
        <p:cNvPr id="1" name=""/>
        <p:cNvGrpSpPr/>
        <p:nvPr/>
      </p:nvGrpSpPr>
      <p:grpSpPr>
        <a:xfrm>
          <a:off x="0" y="0"/>
          <a:ext cx="0" cy="0"/>
          <a:chOff x="0" y="0"/>
          <a:chExt cx="0" cy="0"/>
        </a:xfrm>
      </p:grpSpPr>
      <p:grpSp>
        <p:nvGrpSpPr>
          <p:cNvPr name="Group 2" id="2"/>
          <p:cNvGrpSpPr/>
          <p:nvPr/>
        </p:nvGrpSpPr>
        <p:grpSpPr>
          <a:xfrm rot="0">
            <a:off x="946160" y="824590"/>
            <a:ext cx="9569415" cy="1730763"/>
            <a:chOff x="0" y="0"/>
            <a:chExt cx="12759220" cy="2307684"/>
          </a:xfrm>
        </p:grpSpPr>
        <p:sp>
          <p:nvSpPr>
            <p:cNvPr name="TextBox 3" id="3"/>
            <p:cNvSpPr txBox="true"/>
            <p:nvPr/>
          </p:nvSpPr>
          <p:spPr>
            <a:xfrm rot="0">
              <a:off x="0" y="190500"/>
              <a:ext cx="12759220" cy="1447800"/>
            </a:xfrm>
            <a:prstGeom prst="rect">
              <a:avLst/>
            </a:prstGeom>
          </p:spPr>
          <p:txBody>
            <a:bodyPr anchor="t" rtlCol="false" tIns="0" lIns="0" bIns="0" rIns="0">
              <a:spAutoFit/>
            </a:bodyPr>
            <a:lstStyle/>
            <a:p>
              <a:pPr algn="l">
                <a:lnSpc>
                  <a:spcPts val="7694"/>
                </a:lnSpc>
              </a:pPr>
              <a:r>
                <a:rPr lang="en-US" sz="8099" spc="-80" b="true">
                  <a:solidFill>
                    <a:srgbClr val="2B4B82"/>
                  </a:solidFill>
                  <a:latin typeface="Josefin Sans Bold"/>
                  <a:ea typeface="Josefin Sans Bold"/>
                  <a:cs typeface="Josefin Sans Bold"/>
                  <a:sym typeface="Josefin Sans Bold"/>
                </a:rPr>
                <a:t>Phân loại Ảo hóa</a:t>
              </a:r>
            </a:p>
          </p:txBody>
        </p:sp>
        <p:sp>
          <p:nvSpPr>
            <p:cNvPr name="TextBox 4" id="4"/>
            <p:cNvSpPr txBox="true"/>
            <p:nvPr/>
          </p:nvSpPr>
          <p:spPr>
            <a:xfrm rot="0">
              <a:off x="0" y="1689787"/>
              <a:ext cx="12759220" cy="620014"/>
            </a:xfrm>
            <a:prstGeom prst="rect">
              <a:avLst/>
            </a:prstGeom>
          </p:spPr>
          <p:txBody>
            <a:bodyPr anchor="t" rtlCol="false" tIns="0" lIns="0" bIns="0" rIns="0">
              <a:spAutoFit/>
            </a:bodyPr>
            <a:lstStyle/>
            <a:p>
              <a:pPr algn="l">
                <a:lnSpc>
                  <a:spcPts val="4055"/>
                </a:lnSpc>
              </a:pPr>
              <a:r>
                <a:rPr lang="en-US" sz="2399" spc="479">
                  <a:solidFill>
                    <a:srgbClr val="2B4B82"/>
                  </a:solidFill>
                  <a:latin typeface="Josefin Sans"/>
                  <a:ea typeface="Josefin Sans"/>
                  <a:cs typeface="Josefin Sans"/>
                  <a:sym typeface="Josefin Sans"/>
                </a:rPr>
                <a:t>CÓ 4 LOẠI ẢO HÓA CHÍNH:</a:t>
              </a:r>
            </a:p>
          </p:txBody>
        </p:sp>
      </p:grpSp>
      <p:grpSp>
        <p:nvGrpSpPr>
          <p:cNvPr name="Group 5" id="5"/>
          <p:cNvGrpSpPr/>
          <p:nvPr/>
        </p:nvGrpSpPr>
        <p:grpSpPr>
          <a:xfrm rot="0">
            <a:off x="946160" y="3687336"/>
            <a:ext cx="4391121" cy="4575737"/>
            <a:chOff x="0" y="0"/>
            <a:chExt cx="5854827" cy="6100983"/>
          </a:xfrm>
        </p:grpSpPr>
        <p:sp>
          <p:nvSpPr>
            <p:cNvPr name="TextBox 6" id="6"/>
            <p:cNvSpPr txBox="true"/>
            <p:nvPr/>
          </p:nvSpPr>
          <p:spPr>
            <a:xfrm rot="0">
              <a:off x="0" y="-57150"/>
              <a:ext cx="5854827" cy="1302947"/>
            </a:xfrm>
            <a:prstGeom prst="rect">
              <a:avLst/>
            </a:prstGeom>
          </p:spPr>
          <p:txBody>
            <a:bodyPr anchor="t" rtlCol="false" tIns="0" lIns="0" bIns="0" rIns="0">
              <a:spAutoFit/>
            </a:bodyPr>
            <a:lstStyle/>
            <a:p>
              <a:pPr algn="l">
                <a:lnSpc>
                  <a:spcPts val="3992"/>
                </a:lnSpc>
              </a:pPr>
              <a:r>
                <a:rPr lang="en-US" sz="2852" b="true">
                  <a:solidFill>
                    <a:srgbClr val="2B4B82"/>
                  </a:solidFill>
                  <a:latin typeface="Josefin Sans Bold"/>
                  <a:ea typeface="Josefin Sans Bold"/>
                  <a:cs typeface="Josefin Sans Bold"/>
                  <a:sym typeface="Josefin Sans Bold"/>
                </a:rPr>
                <a:t>Para Virtualization </a:t>
              </a:r>
            </a:p>
            <a:p>
              <a:pPr algn="l">
                <a:lnSpc>
                  <a:spcPts val="3992"/>
                </a:lnSpc>
              </a:pPr>
              <a:r>
                <a:rPr lang="en-US" sz="2852" b="true">
                  <a:solidFill>
                    <a:srgbClr val="2B4B82"/>
                  </a:solidFill>
                  <a:latin typeface="Josefin Sans Bold"/>
                  <a:ea typeface="Josefin Sans Bold"/>
                  <a:cs typeface="Josefin Sans Bold"/>
                  <a:sym typeface="Josefin Sans Bold"/>
                </a:rPr>
                <a:t>(Ảo hóa song song)</a:t>
              </a:r>
            </a:p>
          </p:txBody>
        </p:sp>
        <p:sp>
          <p:nvSpPr>
            <p:cNvPr name="TextBox 7" id="7"/>
            <p:cNvSpPr txBox="true"/>
            <p:nvPr/>
          </p:nvSpPr>
          <p:spPr>
            <a:xfrm rot="0">
              <a:off x="0" y="1408564"/>
              <a:ext cx="5854827" cy="2264313"/>
            </a:xfrm>
            <a:prstGeom prst="rect">
              <a:avLst/>
            </a:prstGeom>
          </p:spPr>
          <p:txBody>
            <a:bodyPr anchor="t" rtlCol="false" tIns="0" lIns="0" bIns="0" rIns="0">
              <a:spAutoFit/>
            </a:bodyPr>
            <a:lstStyle/>
            <a:p>
              <a:pPr algn="l">
                <a:lnSpc>
                  <a:spcPts val="3422"/>
                </a:lnSpc>
              </a:pPr>
              <a:r>
                <a:rPr lang="en-US" sz="2444">
                  <a:solidFill>
                    <a:srgbClr val="2B4B82"/>
                  </a:solidFill>
                  <a:latin typeface="Josefin Sans"/>
                  <a:ea typeface="Josefin Sans"/>
                  <a:cs typeface="Josefin Sans"/>
                  <a:sym typeface="Josefin Sans"/>
                </a:rPr>
                <a:t>Tạo ra lớp giao diện phần mềm để các hệ điều hành ảo và hypervisor giao tiếp với nhau.</a:t>
              </a:r>
            </a:p>
          </p:txBody>
        </p:sp>
        <p:sp>
          <p:nvSpPr>
            <p:cNvPr name="TextBox 8" id="8"/>
            <p:cNvSpPr txBox="true"/>
            <p:nvPr/>
          </p:nvSpPr>
          <p:spPr>
            <a:xfrm rot="0">
              <a:off x="0" y="3836670"/>
              <a:ext cx="5854827" cy="2264313"/>
            </a:xfrm>
            <a:prstGeom prst="rect">
              <a:avLst/>
            </a:prstGeom>
          </p:spPr>
          <p:txBody>
            <a:bodyPr anchor="t" rtlCol="false" tIns="0" lIns="0" bIns="0" rIns="0">
              <a:spAutoFit/>
            </a:bodyPr>
            <a:lstStyle/>
            <a:p>
              <a:pPr algn="l">
                <a:lnSpc>
                  <a:spcPts val="3422"/>
                </a:lnSpc>
              </a:pPr>
              <a:r>
                <a:rPr lang="en-US" sz="2444">
                  <a:solidFill>
                    <a:srgbClr val="2B4B82"/>
                  </a:solidFill>
                  <a:latin typeface="Josefin Sans"/>
                  <a:ea typeface="Josefin Sans"/>
                  <a:cs typeface="Josefin Sans"/>
                  <a:sym typeface="Josefin Sans"/>
                </a:rPr>
                <a:t>VD: Xen serverBM LPAR, Oracle VM for SPARC (LDOM), Oracle VM for X86 (OVM),…</a:t>
              </a:r>
            </a:p>
          </p:txBody>
        </p:sp>
      </p:grpSp>
      <p:grpSp>
        <p:nvGrpSpPr>
          <p:cNvPr name="Group 9" id="9"/>
          <p:cNvGrpSpPr/>
          <p:nvPr/>
        </p:nvGrpSpPr>
        <p:grpSpPr>
          <a:xfrm rot="0">
            <a:off x="10970373" y="3687336"/>
            <a:ext cx="4390744" cy="4575345"/>
            <a:chOff x="0" y="0"/>
            <a:chExt cx="5854325" cy="6100459"/>
          </a:xfrm>
        </p:grpSpPr>
        <p:sp>
          <p:nvSpPr>
            <p:cNvPr name="TextBox 10" id="10"/>
            <p:cNvSpPr txBox="true"/>
            <p:nvPr/>
          </p:nvSpPr>
          <p:spPr>
            <a:xfrm rot="0">
              <a:off x="0" y="-57150"/>
              <a:ext cx="5854325" cy="1302840"/>
            </a:xfrm>
            <a:prstGeom prst="rect">
              <a:avLst/>
            </a:prstGeom>
          </p:spPr>
          <p:txBody>
            <a:bodyPr anchor="t" rtlCol="false" tIns="0" lIns="0" bIns="0" rIns="0">
              <a:spAutoFit/>
            </a:bodyPr>
            <a:lstStyle/>
            <a:p>
              <a:pPr algn="l">
                <a:lnSpc>
                  <a:spcPts val="3992"/>
                </a:lnSpc>
              </a:pPr>
              <a:r>
                <a:rPr lang="en-US" sz="2851" b="true">
                  <a:solidFill>
                    <a:srgbClr val="2B4B82"/>
                  </a:solidFill>
                  <a:latin typeface="Josefin Sans Bold"/>
                  <a:ea typeface="Josefin Sans Bold"/>
                  <a:cs typeface="Josefin Sans Bold"/>
                  <a:sym typeface="Josefin Sans Bold"/>
                </a:rPr>
                <a:t>OS-Level Virtualization (Ảo hóa hệ điều hành)</a:t>
              </a:r>
            </a:p>
          </p:txBody>
        </p:sp>
        <p:sp>
          <p:nvSpPr>
            <p:cNvPr name="TextBox 11" id="11"/>
            <p:cNvSpPr txBox="true"/>
            <p:nvPr/>
          </p:nvSpPr>
          <p:spPr>
            <a:xfrm rot="0">
              <a:off x="0" y="1408438"/>
              <a:ext cx="5854325" cy="3409003"/>
            </a:xfrm>
            <a:prstGeom prst="rect">
              <a:avLst/>
            </a:prstGeom>
          </p:spPr>
          <p:txBody>
            <a:bodyPr anchor="t" rtlCol="false" tIns="0" lIns="0" bIns="0" rIns="0">
              <a:spAutoFit/>
            </a:bodyPr>
            <a:lstStyle/>
            <a:p>
              <a:pPr algn="l">
                <a:lnSpc>
                  <a:spcPts val="3422"/>
                </a:lnSpc>
              </a:pPr>
              <a:r>
                <a:rPr lang="en-US" sz="2444">
                  <a:solidFill>
                    <a:srgbClr val="2B4B82"/>
                  </a:solidFill>
                  <a:latin typeface="Josefin Sans"/>
                  <a:ea typeface="Josefin Sans"/>
                  <a:cs typeface="Josefin Sans"/>
                  <a:sym typeface="Josefin Sans"/>
                </a:rPr>
                <a:t>Máy ảo sử dụng một phần của hệ điều hành máy chủ đề có thể sử dụng tất cả các tính năng như ảo hóa toàn phần với máy ảo phải chạy cùng hệ điều hành với máy chủ.</a:t>
              </a:r>
            </a:p>
          </p:txBody>
        </p:sp>
        <p:sp>
          <p:nvSpPr>
            <p:cNvPr name="TextBox 12" id="12"/>
            <p:cNvSpPr txBox="true"/>
            <p:nvPr/>
          </p:nvSpPr>
          <p:spPr>
            <a:xfrm rot="0">
              <a:off x="0" y="4981215"/>
              <a:ext cx="5854325" cy="1119244"/>
            </a:xfrm>
            <a:prstGeom prst="rect">
              <a:avLst/>
            </a:prstGeom>
          </p:spPr>
          <p:txBody>
            <a:bodyPr anchor="t" rtlCol="false" tIns="0" lIns="0" bIns="0" rIns="0">
              <a:spAutoFit/>
            </a:bodyPr>
            <a:lstStyle/>
            <a:p>
              <a:pPr algn="l">
                <a:lnSpc>
                  <a:spcPts val="3422"/>
                </a:lnSpc>
              </a:pPr>
              <a:r>
                <a:rPr lang="en-US" sz="2444">
                  <a:solidFill>
                    <a:srgbClr val="2B4B82"/>
                  </a:solidFill>
                  <a:latin typeface="Josefin Sans"/>
                  <a:ea typeface="Josefin Sans"/>
                  <a:cs typeface="Josefin Sans"/>
                  <a:sym typeface="Josefin Sans"/>
                </a:rPr>
                <a:t>VD: Docker, Linux LXC, AIX WPAR,…</a:t>
              </a: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F7B4A7"/>
        </a:solidFill>
      </p:bgPr>
    </p:bg>
    <p:spTree>
      <p:nvGrpSpPr>
        <p:cNvPr id="1" name=""/>
        <p:cNvGrpSpPr/>
        <p:nvPr/>
      </p:nvGrpSpPr>
      <p:grpSpPr>
        <a:xfrm>
          <a:off x="0" y="0"/>
          <a:ext cx="0" cy="0"/>
          <a:chOff x="0" y="0"/>
          <a:chExt cx="0" cy="0"/>
        </a:xfrm>
      </p:grpSpPr>
      <p:grpSp>
        <p:nvGrpSpPr>
          <p:cNvPr name="Group 2" id="2"/>
          <p:cNvGrpSpPr/>
          <p:nvPr/>
        </p:nvGrpSpPr>
        <p:grpSpPr>
          <a:xfrm rot="0">
            <a:off x="946160" y="824590"/>
            <a:ext cx="9569415" cy="1730763"/>
            <a:chOff x="0" y="0"/>
            <a:chExt cx="12759220" cy="2307684"/>
          </a:xfrm>
        </p:grpSpPr>
        <p:sp>
          <p:nvSpPr>
            <p:cNvPr name="TextBox 3" id="3"/>
            <p:cNvSpPr txBox="true"/>
            <p:nvPr/>
          </p:nvSpPr>
          <p:spPr>
            <a:xfrm rot="0">
              <a:off x="0" y="190500"/>
              <a:ext cx="12759220" cy="1447800"/>
            </a:xfrm>
            <a:prstGeom prst="rect">
              <a:avLst/>
            </a:prstGeom>
          </p:spPr>
          <p:txBody>
            <a:bodyPr anchor="t" rtlCol="false" tIns="0" lIns="0" bIns="0" rIns="0">
              <a:spAutoFit/>
            </a:bodyPr>
            <a:lstStyle/>
            <a:p>
              <a:pPr algn="l">
                <a:lnSpc>
                  <a:spcPts val="7694"/>
                </a:lnSpc>
              </a:pPr>
              <a:r>
                <a:rPr lang="en-US" sz="8099" spc="-80" b="true">
                  <a:solidFill>
                    <a:srgbClr val="2B4B82"/>
                  </a:solidFill>
                  <a:latin typeface="Josefin Sans Bold"/>
                  <a:ea typeface="Josefin Sans Bold"/>
                  <a:cs typeface="Josefin Sans Bold"/>
                  <a:sym typeface="Josefin Sans Bold"/>
                </a:rPr>
                <a:t>Phân loại Ảo hóa</a:t>
              </a:r>
            </a:p>
          </p:txBody>
        </p:sp>
        <p:sp>
          <p:nvSpPr>
            <p:cNvPr name="TextBox 4" id="4"/>
            <p:cNvSpPr txBox="true"/>
            <p:nvPr/>
          </p:nvSpPr>
          <p:spPr>
            <a:xfrm rot="0">
              <a:off x="0" y="1689787"/>
              <a:ext cx="12759220" cy="620014"/>
            </a:xfrm>
            <a:prstGeom prst="rect">
              <a:avLst/>
            </a:prstGeom>
          </p:spPr>
          <p:txBody>
            <a:bodyPr anchor="t" rtlCol="false" tIns="0" lIns="0" bIns="0" rIns="0">
              <a:spAutoFit/>
            </a:bodyPr>
            <a:lstStyle/>
            <a:p>
              <a:pPr algn="l">
                <a:lnSpc>
                  <a:spcPts val="4055"/>
                </a:lnSpc>
              </a:pPr>
              <a:r>
                <a:rPr lang="en-US" sz="2399" spc="479">
                  <a:solidFill>
                    <a:srgbClr val="2B4B82"/>
                  </a:solidFill>
                  <a:latin typeface="Josefin Sans"/>
                  <a:ea typeface="Josefin Sans"/>
                  <a:cs typeface="Josefin Sans"/>
                  <a:sym typeface="Josefin Sans"/>
                </a:rPr>
                <a:t>NGOÀI RA CÓ MỘT SỐ LOẠI ẢO HÓA KHÁC</a:t>
              </a:r>
            </a:p>
          </p:txBody>
        </p:sp>
      </p:grpSp>
      <p:grpSp>
        <p:nvGrpSpPr>
          <p:cNvPr name="Group 5" id="5"/>
          <p:cNvGrpSpPr/>
          <p:nvPr/>
        </p:nvGrpSpPr>
        <p:grpSpPr>
          <a:xfrm rot="0">
            <a:off x="1028700" y="3718796"/>
            <a:ext cx="9306887" cy="5065737"/>
            <a:chOff x="0" y="0"/>
            <a:chExt cx="12409183" cy="6754316"/>
          </a:xfrm>
        </p:grpSpPr>
        <p:sp>
          <p:nvSpPr>
            <p:cNvPr name="TextBox 6" id="6"/>
            <p:cNvSpPr txBox="true"/>
            <p:nvPr/>
          </p:nvSpPr>
          <p:spPr>
            <a:xfrm rot="0">
              <a:off x="0" y="-66675"/>
              <a:ext cx="11254142" cy="718546"/>
            </a:xfrm>
            <a:prstGeom prst="rect">
              <a:avLst/>
            </a:prstGeom>
          </p:spPr>
          <p:txBody>
            <a:bodyPr anchor="t" rtlCol="false" tIns="0" lIns="0" bIns="0" rIns="0">
              <a:spAutoFit/>
            </a:bodyPr>
            <a:lstStyle/>
            <a:p>
              <a:pPr algn="l">
                <a:lnSpc>
                  <a:spcPts val="4552"/>
                </a:lnSpc>
              </a:pPr>
              <a:r>
                <a:rPr lang="en-US" sz="3251" b="true">
                  <a:solidFill>
                    <a:srgbClr val="2B4B82"/>
                  </a:solidFill>
                  <a:latin typeface="Josefin Sans Bold"/>
                  <a:ea typeface="Josefin Sans Bold"/>
                  <a:cs typeface="Josefin Sans Bold"/>
                  <a:sym typeface="Josefin Sans Bold"/>
                </a:rPr>
                <a:t>Server Virtualization (Ảo hóa ứng dụng)</a:t>
              </a:r>
            </a:p>
          </p:txBody>
        </p:sp>
        <p:sp>
          <p:nvSpPr>
            <p:cNvPr name="TextBox 7" id="7"/>
            <p:cNvSpPr txBox="true"/>
            <p:nvPr/>
          </p:nvSpPr>
          <p:spPr>
            <a:xfrm rot="0">
              <a:off x="0" y="1456376"/>
              <a:ext cx="12409183" cy="718546"/>
            </a:xfrm>
            <a:prstGeom prst="rect">
              <a:avLst/>
            </a:prstGeom>
          </p:spPr>
          <p:txBody>
            <a:bodyPr anchor="t" rtlCol="false" tIns="0" lIns="0" bIns="0" rIns="0">
              <a:spAutoFit/>
            </a:bodyPr>
            <a:lstStyle/>
            <a:p>
              <a:pPr algn="l">
                <a:lnSpc>
                  <a:spcPts val="4552"/>
                </a:lnSpc>
              </a:pPr>
              <a:r>
                <a:rPr lang="en-US" sz="3251" b="true">
                  <a:solidFill>
                    <a:srgbClr val="2B4B82"/>
                  </a:solidFill>
                  <a:latin typeface="Josefin Sans Bold"/>
                  <a:ea typeface="Josefin Sans Bold"/>
                  <a:cs typeface="Josefin Sans Bold"/>
                  <a:sym typeface="Josefin Sans Bold"/>
                </a:rPr>
                <a:t>Presentation Virtualization (Ảo hóa trình bày)</a:t>
              </a:r>
            </a:p>
          </p:txBody>
        </p:sp>
        <p:sp>
          <p:nvSpPr>
            <p:cNvPr name="TextBox 8" id="8"/>
            <p:cNvSpPr txBox="true"/>
            <p:nvPr/>
          </p:nvSpPr>
          <p:spPr>
            <a:xfrm rot="0">
              <a:off x="0" y="2979428"/>
              <a:ext cx="11340770" cy="718546"/>
            </a:xfrm>
            <a:prstGeom prst="rect">
              <a:avLst/>
            </a:prstGeom>
          </p:spPr>
          <p:txBody>
            <a:bodyPr anchor="t" rtlCol="false" tIns="0" lIns="0" bIns="0" rIns="0">
              <a:spAutoFit/>
            </a:bodyPr>
            <a:lstStyle/>
            <a:p>
              <a:pPr algn="l">
                <a:lnSpc>
                  <a:spcPts val="4552"/>
                </a:lnSpc>
              </a:pPr>
              <a:r>
                <a:rPr lang="en-US" sz="3251" b="true">
                  <a:solidFill>
                    <a:srgbClr val="2B4B82"/>
                  </a:solidFill>
                  <a:latin typeface="Josefin Sans Bold"/>
                  <a:ea typeface="Josefin Sans Bold"/>
                  <a:cs typeface="Josefin Sans Bold"/>
                  <a:sym typeface="Josefin Sans Bold"/>
                </a:rPr>
                <a:t>Network Virtualization (Ảo hóa mạng)</a:t>
              </a:r>
            </a:p>
          </p:txBody>
        </p:sp>
        <p:sp>
          <p:nvSpPr>
            <p:cNvPr name="TextBox 9" id="9"/>
            <p:cNvSpPr txBox="true"/>
            <p:nvPr/>
          </p:nvSpPr>
          <p:spPr>
            <a:xfrm rot="0">
              <a:off x="57752" y="4507599"/>
              <a:ext cx="11225266" cy="718546"/>
            </a:xfrm>
            <a:prstGeom prst="rect">
              <a:avLst/>
            </a:prstGeom>
          </p:spPr>
          <p:txBody>
            <a:bodyPr anchor="t" rtlCol="false" tIns="0" lIns="0" bIns="0" rIns="0">
              <a:spAutoFit/>
            </a:bodyPr>
            <a:lstStyle/>
            <a:p>
              <a:pPr algn="l">
                <a:lnSpc>
                  <a:spcPts val="4552"/>
                </a:lnSpc>
              </a:pPr>
              <a:r>
                <a:rPr lang="en-US" sz="3251" b="true">
                  <a:solidFill>
                    <a:srgbClr val="2B4B82"/>
                  </a:solidFill>
                  <a:latin typeface="Josefin Sans Bold"/>
                  <a:ea typeface="Josefin Sans Bold"/>
                  <a:cs typeface="Josefin Sans Bold"/>
                  <a:sym typeface="Josefin Sans Bold"/>
                </a:rPr>
                <a:t>Storage Virtualization (Ảo hóa lưu trữ)</a:t>
              </a:r>
            </a:p>
          </p:txBody>
        </p:sp>
        <p:sp>
          <p:nvSpPr>
            <p:cNvPr name="TextBox 10" id="10"/>
            <p:cNvSpPr txBox="true"/>
            <p:nvPr/>
          </p:nvSpPr>
          <p:spPr>
            <a:xfrm rot="0">
              <a:off x="0" y="6035770"/>
              <a:ext cx="12380307" cy="718546"/>
            </a:xfrm>
            <a:prstGeom prst="rect">
              <a:avLst/>
            </a:prstGeom>
          </p:spPr>
          <p:txBody>
            <a:bodyPr anchor="t" rtlCol="false" tIns="0" lIns="0" bIns="0" rIns="0">
              <a:spAutoFit/>
            </a:bodyPr>
            <a:lstStyle/>
            <a:p>
              <a:pPr algn="l">
                <a:lnSpc>
                  <a:spcPts val="4552"/>
                </a:lnSpc>
              </a:pPr>
              <a:r>
                <a:rPr lang="en-US" sz="3251" b="true">
                  <a:solidFill>
                    <a:srgbClr val="2B4B82"/>
                  </a:solidFill>
                  <a:latin typeface="Josefin Sans Bold"/>
                  <a:ea typeface="Josefin Sans Bold"/>
                  <a:cs typeface="Josefin Sans Bold"/>
                  <a:sym typeface="Josefin Sans Bold"/>
                </a:rPr>
                <a:t>Hardware Virtualization (Ảo hóa phần cứng)</a:t>
              </a:r>
            </a:p>
          </p:txBody>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851630" y="682188"/>
            <a:ext cx="8292370" cy="1678970"/>
            <a:chOff x="0" y="0"/>
            <a:chExt cx="11056493" cy="2238627"/>
          </a:xfrm>
        </p:grpSpPr>
        <p:sp>
          <p:nvSpPr>
            <p:cNvPr name="TextBox 3" id="3"/>
            <p:cNvSpPr txBox="true"/>
            <p:nvPr/>
          </p:nvSpPr>
          <p:spPr>
            <a:xfrm rot="0">
              <a:off x="0" y="-19050"/>
              <a:ext cx="11056493" cy="1314450"/>
            </a:xfrm>
            <a:prstGeom prst="rect">
              <a:avLst/>
            </a:prstGeom>
          </p:spPr>
          <p:txBody>
            <a:bodyPr anchor="t" rtlCol="false" tIns="0" lIns="0" bIns="0" rIns="0">
              <a:spAutoFit/>
            </a:bodyPr>
            <a:lstStyle/>
            <a:p>
              <a:pPr algn="l">
                <a:lnSpc>
                  <a:spcPts val="7680"/>
                </a:lnSpc>
              </a:pPr>
              <a:r>
                <a:rPr lang="en-US" sz="6400" b="true">
                  <a:solidFill>
                    <a:srgbClr val="2B4B82"/>
                  </a:solidFill>
                  <a:latin typeface="Josefin Sans Bold"/>
                  <a:ea typeface="Josefin Sans Bold"/>
                  <a:cs typeface="Josefin Sans Bold"/>
                  <a:sym typeface="Josefin Sans Bold"/>
                </a:rPr>
                <a:t>Rủi ro và giải pháp</a:t>
              </a:r>
            </a:p>
          </p:txBody>
        </p:sp>
        <p:sp>
          <p:nvSpPr>
            <p:cNvPr name="TextBox 4" id="4"/>
            <p:cNvSpPr txBox="true"/>
            <p:nvPr/>
          </p:nvSpPr>
          <p:spPr>
            <a:xfrm rot="0">
              <a:off x="0" y="1606040"/>
              <a:ext cx="8579620" cy="664337"/>
            </a:xfrm>
            <a:prstGeom prst="rect">
              <a:avLst/>
            </a:prstGeom>
          </p:spPr>
          <p:txBody>
            <a:bodyPr anchor="t" rtlCol="false" tIns="0" lIns="0" bIns="0" rIns="0">
              <a:spAutoFit/>
            </a:bodyPr>
            <a:lstStyle/>
            <a:p>
              <a:pPr algn="l">
                <a:lnSpc>
                  <a:spcPts val="4262"/>
                </a:lnSpc>
              </a:pPr>
              <a:r>
                <a:rPr lang="en-US" sz="2899" spc="579">
                  <a:solidFill>
                    <a:srgbClr val="2B4B82"/>
                  </a:solidFill>
                  <a:latin typeface="Josefin Sans"/>
                  <a:ea typeface="Josefin Sans"/>
                  <a:cs typeface="Josefin Sans"/>
                  <a:sym typeface="Josefin Sans"/>
                </a:rPr>
                <a:t>CỦA CÔNG NGHỆ ẢO HÓA</a:t>
              </a:r>
            </a:p>
          </p:txBody>
        </p:sp>
      </p:grpSp>
      <p:grpSp>
        <p:nvGrpSpPr>
          <p:cNvPr name="Group 5" id="5"/>
          <p:cNvGrpSpPr/>
          <p:nvPr/>
        </p:nvGrpSpPr>
        <p:grpSpPr>
          <a:xfrm rot="0">
            <a:off x="851630" y="3705825"/>
            <a:ext cx="14536858" cy="1062892"/>
            <a:chOff x="0" y="0"/>
            <a:chExt cx="19382478" cy="1417190"/>
          </a:xfrm>
        </p:grpSpPr>
        <p:sp>
          <p:nvSpPr>
            <p:cNvPr name="TextBox 6" id="6"/>
            <p:cNvSpPr txBox="true"/>
            <p:nvPr/>
          </p:nvSpPr>
          <p:spPr>
            <a:xfrm rot="0">
              <a:off x="0" y="-57150"/>
              <a:ext cx="19382478" cy="622723"/>
            </a:xfrm>
            <a:prstGeom prst="rect">
              <a:avLst/>
            </a:prstGeom>
          </p:spPr>
          <p:txBody>
            <a:bodyPr anchor="t" rtlCol="false" tIns="0" lIns="0" bIns="0" rIns="0">
              <a:spAutoFit/>
            </a:bodyPr>
            <a:lstStyle/>
            <a:p>
              <a:pPr algn="l">
                <a:lnSpc>
                  <a:spcPts val="3919"/>
                </a:lnSpc>
              </a:pPr>
              <a:r>
                <a:rPr lang="en-US" sz="2800" b="true">
                  <a:solidFill>
                    <a:srgbClr val="2B4B82"/>
                  </a:solidFill>
                  <a:latin typeface="Josefin Sans Bold"/>
                  <a:ea typeface="Josefin Sans Bold"/>
                  <a:cs typeface="Josefin Sans Bold"/>
                  <a:sym typeface="Josefin Sans Bold"/>
                </a:rPr>
                <a:t>Tài nguyên cung cấp cho mỗi máy ảo cần phải tính toán cẩn thận</a:t>
              </a:r>
            </a:p>
          </p:txBody>
        </p:sp>
        <p:sp>
          <p:nvSpPr>
            <p:cNvPr name="TextBox 7" id="7"/>
            <p:cNvSpPr txBox="true"/>
            <p:nvPr/>
          </p:nvSpPr>
          <p:spPr>
            <a:xfrm rot="0">
              <a:off x="0" y="872995"/>
              <a:ext cx="19382478" cy="544195"/>
            </a:xfrm>
            <a:prstGeom prst="rect">
              <a:avLst/>
            </a:prstGeom>
          </p:spPr>
          <p:txBody>
            <a:bodyPr anchor="t" rtlCol="false" tIns="0" lIns="0" bIns="0" rIns="0">
              <a:spAutoFit/>
            </a:bodyPr>
            <a:lstStyle/>
            <a:p>
              <a:pPr algn="l">
                <a:lnSpc>
                  <a:spcPts val="3359"/>
                </a:lnSpc>
              </a:pPr>
              <a:r>
                <a:rPr lang="en-US" sz="2400">
                  <a:solidFill>
                    <a:srgbClr val="2B4B82"/>
                  </a:solidFill>
                  <a:latin typeface="Josefin Sans"/>
                  <a:ea typeface="Josefin Sans"/>
                  <a:cs typeface="Josefin Sans"/>
                  <a:sym typeface="Josefin Sans"/>
                </a:rPr>
                <a:t>⇒ Cần tính toán kĩ tài nguyên để việc sử dụng được hiệu quả</a:t>
              </a:r>
            </a:p>
          </p:txBody>
        </p:sp>
      </p:grpSp>
      <p:grpSp>
        <p:nvGrpSpPr>
          <p:cNvPr name="Group 8" id="8"/>
          <p:cNvGrpSpPr/>
          <p:nvPr/>
        </p:nvGrpSpPr>
        <p:grpSpPr>
          <a:xfrm rot="0">
            <a:off x="851630" y="5414663"/>
            <a:ext cx="14536858" cy="1062892"/>
            <a:chOff x="0" y="0"/>
            <a:chExt cx="19382478" cy="1417190"/>
          </a:xfrm>
        </p:grpSpPr>
        <p:sp>
          <p:nvSpPr>
            <p:cNvPr name="TextBox 9" id="9"/>
            <p:cNvSpPr txBox="true"/>
            <p:nvPr/>
          </p:nvSpPr>
          <p:spPr>
            <a:xfrm rot="0">
              <a:off x="0" y="-57150"/>
              <a:ext cx="19382478" cy="622723"/>
            </a:xfrm>
            <a:prstGeom prst="rect">
              <a:avLst/>
            </a:prstGeom>
          </p:spPr>
          <p:txBody>
            <a:bodyPr anchor="t" rtlCol="false" tIns="0" lIns="0" bIns="0" rIns="0">
              <a:spAutoFit/>
            </a:bodyPr>
            <a:lstStyle/>
            <a:p>
              <a:pPr algn="l">
                <a:lnSpc>
                  <a:spcPts val="3919"/>
                </a:lnSpc>
              </a:pPr>
              <a:r>
                <a:rPr lang="en-US" sz="2800" b="true">
                  <a:solidFill>
                    <a:srgbClr val="2B4B82"/>
                  </a:solidFill>
                  <a:latin typeface="Josefin Sans Bold"/>
                  <a:ea typeface="Josefin Sans Bold"/>
                  <a:cs typeface="Josefin Sans Bold"/>
                  <a:sym typeface="Josefin Sans Bold"/>
                </a:rPr>
                <a:t>Các server vật lý có vi xử lý 32 bit không nhận được đủ bộ nhớ RAM thực tế</a:t>
              </a:r>
            </a:p>
          </p:txBody>
        </p:sp>
        <p:sp>
          <p:nvSpPr>
            <p:cNvPr name="TextBox 10" id="10"/>
            <p:cNvSpPr txBox="true"/>
            <p:nvPr/>
          </p:nvSpPr>
          <p:spPr>
            <a:xfrm rot="0">
              <a:off x="0" y="872995"/>
              <a:ext cx="19382478" cy="544195"/>
            </a:xfrm>
            <a:prstGeom prst="rect">
              <a:avLst/>
            </a:prstGeom>
          </p:spPr>
          <p:txBody>
            <a:bodyPr anchor="t" rtlCol="false" tIns="0" lIns="0" bIns="0" rIns="0">
              <a:spAutoFit/>
            </a:bodyPr>
            <a:lstStyle/>
            <a:p>
              <a:pPr algn="l">
                <a:lnSpc>
                  <a:spcPts val="3359"/>
                </a:lnSpc>
              </a:pPr>
              <a:r>
                <a:rPr lang="en-US" sz="2400">
                  <a:solidFill>
                    <a:srgbClr val="2B4B82"/>
                  </a:solidFill>
                  <a:latin typeface="Josefin Sans"/>
                  <a:ea typeface="Josefin Sans"/>
                  <a:cs typeface="Josefin Sans"/>
                  <a:sym typeface="Josefin Sans"/>
                </a:rPr>
                <a:t>⇒ Đảm bảo bộ xử lý 64 bit để chạy ứng dụng ảo hóa</a:t>
              </a:r>
            </a:p>
          </p:txBody>
        </p:sp>
      </p:grpSp>
      <p:grpSp>
        <p:nvGrpSpPr>
          <p:cNvPr name="Group 11" id="11"/>
          <p:cNvGrpSpPr/>
          <p:nvPr/>
        </p:nvGrpSpPr>
        <p:grpSpPr>
          <a:xfrm rot="0">
            <a:off x="851630" y="7123501"/>
            <a:ext cx="14536858" cy="1062892"/>
            <a:chOff x="0" y="0"/>
            <a:chExt cx="19382478" cy="1417190"/>
          </a:xfrm>
        </p:grpSpPr>
        <p:sp>
          <p:nvSpPr>
            <p:cNvPr name="TextBox 12" id="12"/>
            <p:cNvSpPr txBox="true"/>
            <p:nvPr/>
          </p:nvSpPr>
          <p:spPr>
            <a:xfrm rot="0">
              <a:off x="0" y="-57150"/>
              <a:ext cx="19382478" cy="622723"/>
            </a:xfrm>
            <a:prstGeom prst="rect">
              <a:avLst/>
            </a:prstGeom>
          </p:spPr>
          <p:txBody>
            <a:bodyPr anchor="t" rtlCol="false" tIns="0" lIns="0" bIns="0" rIns="0">
              <a:spAutoFit/>
            </a:bodyPr>
            <a:lstStyle/>
            <a:p>
              <a:pPr algn="l">
                <a:lnSpc>
                  <a:spcPts val="3919"/>
                </a:lnSpc>
              </a:pPr>
              <a:r>
                <a:rPr lang="en-US" sz="2800" b="true">
                  <a:solidFill>
                    <a:srgbClr val="2B4B82"/>
                  </a:solidFill>
                  <a:latin typeface="Josefin Sans Bold"/>
                  <a:ea typeface="Josefin Sans Bold"/>
                  <a:cs typeface="Josefin Sans Bold"/>
                  <a:sym typeface="Josefin Sans Bold"/>
                </a:rPr>
                <a:t>Giải pháp ảo hóa có điểm nút sự cố (Single point of failure)</a:t>
              </a:r>
            </a:p>
          </p:txBody>
        </p:sp>
        <p:sp>
          <p:nvSpPr>
            <p:cNvPr name="TextBox 13" id="13"/>
            <p:cNvSpPr txBox="true"/>
            <p:nvPr/>
          </p:nvSpPr>
          <p:spPr>
            <a:xfrm rot="0">
              <a:off x="0" y="872995"/>
              <a:ext cx="19382478" cy="544195"/>
            </a:xfrm>
            <a:prstGeom prst="rect">
              <a:avLst/>
            </a:prstGeom>
          </p:spPr>
          <p:txBody>
            <a:bodyPr anchor="t" rtlCol="false" tIns="0" lIns="0" bIns="0" rIns="0">
              <a:spAutoFit/>
            </a:bodyPr>
            <a:lstStyle/>
            <a:p>
              <a:pPr algn="l">
                <a:lnSpc>
                  <a:spcPts val="3359"/>
                </a:lnSpc>
              </a:pPr>
              <a:r>
                <a:rPr lang="en-US" sz="2400">
                  <a:solidFill>
                    <a:srgbClr val="2B4B82"/>
                  </a:solidFill>
                  <a:latin typeface="Josefin Sans"/>
                  <a:ea typeface="Josefin Sans"/>
                  <a:cs typeface="Josefin Sans"/>
                  <a:sym typeface="Josefin Sans"/>
                </a:rPr>
                <a:t>⇒ Tăng sức chứa và thường xuyên sao lưu hệ điều hành ảo (cùng với ứng dụng ảo)</a:t>
              </a:r>
            </a:p>
          </p:txBody>
        </p:sp>
      </p:grpSp>
    </p:spTree>
  </p:cSld>
  <p:clrMapOvr>
    <a:masterClrMapping/>
  </p:clrMapOvr>
</p:sld>
</file>

<file path=ppt/slides/slide10.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851630" y="682188"/>
            <a:ext cx="8292370" cy="1678970"/>
            <a:chOff x="0" y="0"/>
            <a:chExt cx="11056493" cy="2238627"/>
          </a:xfrm>
        </p:grpSpPr>
        <p:sp>
          <p:nvSpPr>
            <p:cNvPr name="TextBox 3" id="3"/>
            <p:cNvSpPr txBox="true"/>
            <p:nvPr/>
          </p:nvSpPr>
          <p:spPr>
            <a:xfrm rot="0">
              <a:off x="0" y="-19050"/>
              <a:ext cx="11056493" cy="1314450"/>
            </a:xfrm>
            <a:prstGeom prst="rect">
              <a:avLst/>
            </a:prstGeom>
          </p:spPr>
          <p:txBody>
            <a:bodyPr anchor="t" rtlCol="false" tIns="0" lIns="0" bIns="0" rIns="0">
              <a:spAutoFit/>
            </a:bodyPr>
            <a:lstStyle/>
            <a:p>
              <a:pPr algn="l">
                <a:lnSpc>
                  <a:spcPts val="7680"/>
                </a:lnSpc>
              </a:pPr>
              <a:r>
                <a:rPr lang="en-US" sz="6400" b="true">
                  <a:solidFill>
                    <a:srgbClr val="2B4B82"/>
                  </a:solidFill>
                  <a:latin typeface="Josefin Sans Bold"/>
                  <a:ea typeface="Josefin Sans Bold"/>
                  <a:cs typeface="Josefin Sans Bold"/>
                  <a:sym typeface="Josefin Sans Bold"/>
                </a:rPr>
                <a:t>Rủi ro và giải pháp</a:t>
              </a:r>
            </a:p>
          </p:txBody>
        </p:sp>
        <p:sp>
          <p:nvSpPr>
            <p:cNvPr name="TextBox 4" id="4"/>
            <p:cNvSpPr txBox="true"/>
            <p:nvPr/>
          </p:nvSpPr>
          <p:spPr>
            <a:xfrm rot="0">
              <a:off x="0" y="1606040"/>
              <a:ext cx="8579620" cy="664337"/>
            </a:xfrm>
            <a:prstGeom prst="rect">
              <a:avLst/>
            </a:prstGeom>
          </p:spPr>
          <p:txBody>
            <a:bodyPr anchor="t" rtlCol="false" tIns="0" lIns="0" bIns="0" rIns="0">
              <a:spAutoFit/>
            </a:bodyPr>
            <a:lstStyle/>
            <a:p>
              <a:pPr algn="l">
                <a:lnSpc>
                  <a:spcPts val="4262"/>
                </a:lnSpc>
              </a:pPr>
              <a:r>
                <a:rPr lang="en-US" sz="2899" spc="579">
                  <a:solidFill>
                    <a:srgbClr val="2B4B82"/>
                  </a:solidFill>
                  <a:latin typeface="Josefin Sans"/>
                  <a:ea typeface="Josefin Sans"/>
                  <a:cs typeface="Josefin Sans"/>
                  <a:sym typeface="Josefin Sans"/>
                </a:rPr>
                <a:t>CỦA CÔNG NGHỆ ẢO HÓA</a:t>
              </a:r>
            </a:p>
          </p:txBody>
        </p:sp>
      </p:grpSp>
      <p:grpSp>
        <p:nvGrpSpPr>
          <p:cNvPr name="Group 5" id="5"/>
          <p:cNvGrpSpPr/>
          <p:nvPr/>
        </p:nvGrpSpPr>
        <p:grpSpPr>
          <a:xfrm rot="0">
            <a:off x="851630" y="3683267"/>
            <a:ext cx="14536858" cy="1062892"/>
            <a:chOff x="0" y="0"/>
            <a:chExt cx="19382478" cy="1417190"/>
          </a:xfrm>
        </p:grpSpPr>
        <p:sp>
          <p:nvSpPr>
            <p:cNvPr name="TextBox 6" id="6"/>
            <p:cNvSpPr txBox="true"/>
            <p:nvPr/>
          </p:nvSpPr>
          <p:spPr>
            <a:xfrm rot="0">
              <a:off x="0" y="-57150"/>
              <a:ext cx="19382478" cy="622723"/>
            </a:xfrm>
            <a:prstGeom prst="rect">
              <a:avLst/>
            </a:prstGeom>
          </p:spPr>
          <p:txBody>
            <a:bodyPr anchor="t" rtlCol="false" tIns="0" lIns="0" bIns="0" rIns="0">
              <a:spAutoFit/>
            </a:bodyPr>
            <a:lstStyle/>
            <a:p>
              <a:pPr algn="l">
                <a:lnSpc>
                  <a:spcPts val="3919"/>
                </a:lnSpc>
              </a:pPr>
              <a:r>
                <a:rPr lang="en-US" sz="2800" b="true">
                  <a:solidFill>
                    <a:srgbClr val="2B4B82"/>
                  </a:solidFill>
                  <a:latin typeface="Josefin Sans Bold"/>
                  <a:ea typeface="Josefin Sans Bold"/>
                  <a:cs typeface="Josefin Sans Bold"/>
                  <a:sym typeface="Josefin Sans Bold"/>
                </a:rPr>
                <a:t>Ảo hóa yêu cầu phần cứng máy tính có cấu hình mạnh</a:t>
              </a:r>
            </a:p>
          </p:txBody>
        </p:sp>
        <p:sp>
          <p:nvSpPr>
            <p:cNvPr name="TextBox 7" id="7"/>
            <p:cNvSpPr txBox="true"/>
            <p:nvPr/>
          </p:nvSpPr>
          <p:spPr>
            <a:xfrm rot="0">
              <a:off x="0" y="872995"/>
              <a:ext cx="19382478" cy="544195"/>
            </a:xfrm>
            <a:prstGeom prst="rect">
              <a:avLst/>
            </a:prstGeom>
          </p:spPr>
          <p:txBody>
            <a:bodyPr anchor="t" rtlCol="false" tIns="0" lIns="0" bIns="0" rIns="0">
              <a:spAutoFit/>
            </a:bodyPr>
            <a:lstStyle/>
            <a:p>
              <a:pPr algn="l">
                <a:lnSpc>
                  <a:spcPts val="3359"/>
                </a:lnSpc>
              </a:pPr>
              <a:r>
                <a:rPr lang="en-US" sz="2400">
                  <a:solidFill>
                    <a:srgbClr val="2B4B82"/>
                  </a:solidFill>
                  <a:latin typeface="Josefin Sans"/>
                  <a:ea typeface="Josefin Sans"/>
                  <a:cs typeface="Josefin Sans"/>
                  <a:sym typeface="Josefin Sans"/>
                </a:rPr>
                <a:t>⇒ Đảm bảo cỗ máy có CPU và RAM đủ mạnh cho chúng làm việc</a:t>
              </a:r>
            </a:p>
          </p:txBody>
        </p:sp>
      </p:grpSp>
      <p:grpSp>
        <p:nvGrpSpPr>
          <p:cNvPr name="Group 8" id="8"/>
          <p:cNvGrpSpPr/>
          <p:nvPr/>
        </p:nvGrpSpPr>
        <p:grpSpPr>
          <a:xfrm rot="0">
            <a:off x="851630" y="5403384"/>
            <a:ext cx="14536858" cy="1062892"/>
            <a:chOff x="0" y="0"/>
            <a:chExt cx="19382478" cy="1417190"/>
          </a:xfrm>
        </p:grpSpPr>
        <p:sp>
          <p:nvSpPr>
            <p:cNvPr name="TextBox 9" id="9"/>
            <p:cNvSpPr txBox="true"/>
            <p:nvPr/>
          </p:nvSpPr>
          <p:spPr>
            <a:xfrm rot="0">
              <a:off x="0" y="-57150"/>
              <a:ext cx="19382478" cy="622723"/>
            </a:xfrm>
            <a:prstGeom prst="rect">
              <a:avLst/>
            </a:prstGeom>
          </p:spPr>
          <p:txBody>
            <a:bodyPr anchor="t" rtlCol="false" tIns="0" lIns="0" bIns="0" rIns="0">
              <a:spAutoFit/>
            </a:bodyPr>
            <a:lstStyle/>
            <a:p>
              <a:pPr algn="l">
                <a:lnSpc>
                  <a:spcPts val="3919"/>
                </a:lnSpc>
              </a:pPr>
              <a:r>
                <a:rPr lang="en-US" sz="2800" b="true">
                  <a:solidFill>
                    <a:srgbClr val="2B4B82"/>
                  </a:solidFill>
                  <a:latin typeface="Josefin Sans Bold"/>
                  <a:ea typeface="Josefin Sans Bold"/>
                  <a:cs typeface="Josefin Sans Bold"/>
                  <a:sym typeface="Josefin Sans Bold"/>
                </a:rPr>
                <a:t>Ảo hóa có thể dẫn đến hiệu năng thấp</a:t>
              </a:r>
            </a:p>
          </p:txBody>
        </p:sp>
        <p:sp>
          <p:nvSpPr>
            <p:cNvPr name="TextBox 10" id="10"/>
            <p:cNvSpPr txBox="true"/>
            <p:nvPr/>
          </p:nvSpPr>
          <p:spPr>
            <a:xfrm rot="0">
              <a:off x="0" y="872995"/>
              <a:ext cx="19382478" cy="544195"/>
            </a:xfrm>
            <a:prstGeom prst="rect">
              <a:avLst/>
            </a:prstGeom>
          </p:spPr>
          <p:txBody>
            <a:bodyPr anchor="t" rtlCol="false" tIns="0" lIns="0" bIns="0" rIns="0">
              <a:spAutoFit/>
            </a:bodyPr>
            <a:lstStyle/>
            <a:p>
              <a:pPr algn="l">
                <a:lnSpc>
                  <a:spcPts val="3359"/>
                </a:lnSpc>
              </a:pPr>
              <a:r>
                <a:rPr lang="en-US" sz="2400">
                  <a:solidFill>
                    <a:srgbClr val="2B4B82"/>
                  </a:solidFill>
                  <a:latin typeface="Josefin Sans"/>
                  <a:ea typeface="Josefin Sans"/>
                  <a:cs typeface="Josefin Sans"/>
                  <a:sym typeface="Josefin Sans"/>
                </a:rPr>
                <a:t>⇒ Phải luôn kiếm tra và theo dõi sát sao các vấn đề tiềm ẩn</a:t>
              </a:r>
            </a:p>
          </p:txBody>
        </p:sp>
      </p:grpSp>
      <p:grpSp>
        <p:nvGrpSpPr>
          <p:cNvPr name="Group 11" id="11"/>
          <p:cNvGrpSpPr/>
          <p:nvPr/>
        </p:nvGrpSpPr>
        <p:grpSpPr>
          <a:xfrm rot="0">
            <a:off x="851630" y="7123501"/>
            <a:ext cx="14536858" cy="1062892"/>
            <a:chOff x="0" y="0"/>
            <a:chExt cx="19382478" cy="1417190"/>
          </a:xfrm>
        </p:grpSpPr>
        <p:sp>
          <p:nvSpPr>
            <p:cNvPr name="TextBox 12" id="12"/>
            <p:cNvSpPr txBox="true"/>
            <p:nvPr/>
          </p:nvSpPr>
          <p:spPr>
            <a:xfrm rot="0">
              <a:off x="0" y="-57150"/>
              <a:ext cx="19382478" cy="622723"/>
            </a:xfrm>
            <a:prstGeom prst="rect">
              <a:avLst/>
            </a:prstGeom>
          </p:spPr>
          <p:txBody>
            <a:bodyPr anchor="t" rtlCol="false" tIns="0" lIns="0" bIns="0" rIns="0">
              <a:spAutoFit/>
            </a:bodyPr>
            <a:lstStyle/>
            <a:p>
              <a:pPr algn="l">
                <a:lnSpc>
                  <a:spcPts val="3919"/>
                </a:lnSpc>
              </a:pPr>
              <a:r>
                <a:rPr lang="en-US" sz="2800" b="true">
                  <a:solidFill>
                    <a:srgbClr val="2B4B82"/>
                  </a:solidFill>
                  <a:latin typeface="Josefin Sans Bold"/>
                  <a:ea typeface="Josefin Sans Bold"/>
                  <a:cs typeface="Josefin Sans Bold"/>
                  <a:sym typeface="Josefin Sans Bold"/>
                </a:rPr>
                <a:t>Ứng dụng ảo hóa không phải luôn luôn khả dụng</a:t>
              </a:r>
            </a:p>
          </p:txBody>
        </p:sp>
        <p:sp>
          <p:nvSpPr>
            <p:cNvPr name="TextBox 13" id="13"/>
            <p:cNvSpPr txBox="true"/>
            <p:nvPr/>
          </p:nvSpPr>
          <p:spPr>
            <a:xfrm rot="0">
              <a:off x="0" y="872995"/>
              <a:ext cx="19382478" cy="544195"/>
            </a:xfrm>
            <a:prstGeom prst="rect">
              <a:avLst/>
            </a:prstGeom>
          </p:spPr>
          <p:txBody>
            <a:bodyPr anchor="t" rtlCol="false" tIns="0" lIns="0" bIns="0" rIns="0">
              <a:spAutoFit/>
            </a:bodyPr>
            <a:lstStyle/>
            <a:p>
              <a:pPr algn="l">
                <a:lnSpc>
                  <a:spcPts val="3359"/>
                </a:lnSpc>
              </a:pPr>
              <a:r>
                <a:rPr lang="en-US" sz="2400">
                  <a:solidFill>
                    <a:srgbClr val="2B4B82"/>
                  </a:solidFill>
                  <a:latin typeface="Josefin Sans"/>
                  <a:ea typeface="Josefin Sans"/>
                  <a:cs typeface="Josefin Sans"/>
                  <a:sym typeface="Josefin Sans"/>
                </a:rPr>
                <a:t>⇒ Chạy thử nghiệm ứng dụng trước khi đưa vào chạy chính thức</a:t>
              </a:r>
            </a:p>
          </p:txBody>
        </p:sp>
      </p:grpSp>
    </p:spTree>
  </p:cSld>
  <p:clrMapOvr>
    <a:masterClrMapping/>
  </p:clrMapOvr>
</p:sld>
</file>

<file path=ppt/slides/slide11.xml><?xml version="1.0" encoding="utf-8"?>
<p:sld xmlns:p="http://schemas.openxmlformats.org/presentationml/2006/main" xmlns:a="http://schemas.openxmlformats.org/drawingml/2006/main">
  <p:cSld>
    <p:bg>
      <p:bgPr>
        <a:solidFill>
          <a:srgbClr val="FFCFC2"/>
        </a:solidFill>
      </p:bgPr>
    </p:bg>
    <p:spTree>
      <p:nvGrpSpPr>
        <p:cNvPr id="1" name=""/>
        <p:cNvGrpSpPr/>
        <p:nvPr/>
      </p:nvGrpSpPr>
      <p:grpSpPr>
        <a:xfrm>
          <a:off x="0" y="0"/>
          <a:ext cx="0" cy="0"/>
          <a:chOff x="0" y="0"/>
          <a:chExt cx="0" cy="0"/>
        </a:xfrm>
      </p:grpSpPr>
      <p:grpSp>
        <p:nvGrpSpPr>
          <p:cNvPr name="Group 2" id="2"/>
          <p:cNvGrpSpPr/>
          <p:nvPr/>
        </p:nvGrpSpPr>
        <p:grpSpPr>
          <a:xfrm rot="0">
            <a:off x="851630" y="682188"/>
            <a:ext cx="11237725" cy="1678970"/>
            <a:chOff x="0" y="0"/>
            <a:chExt cx="14983633" cy="2238627"/>
          </a:xfrm>
        </p:grpSpPr>
        <p:sp>
          <p:nvSpPr>
            <p:cNvPr name="TextBox 3" id="3"/>
            <p:cNvSpPr txBox="true"/>
            <p:nvPr/>
          </p:nvSpPr>
          <p:spPr>
            <a:xfrm rot="0">
              <a:off x="0" y="-19050"/>
              <a:ext cx="14983633" cy="1314450"/>
            </a:xfrm>
            <a:prstGeom prst="rect">
              <a:avLst/>
            </a:prstGeom>
          </p:spPr>
          <p:txBody>
            <a:bodyPr anchor="t" rtlCol="false" tIns="0" lIns="0" bIns="0" rIns="0">
              <a:spAutoFit/>
            </a:bodyPr>
            <a:lstStyle/>
            <a:p>
              <a:pPr algn="l">
                <a:lnSpc>
                  <a:spcPts val="7680"/>
                </a:lnSpc>
              </a:pPr>
              <a:r>
                <a:rPr lang="en-US" sz="6400" b="true">
                  <a:solidFill>
                    <a:srgbClr val="2B4B82"/>
                  </a:solidFill>
                  <a:latin typeface="Josefin Sans Bold"/>
                  <a:ea typeface="Josefin Sans Bold"/>
                  <a:cs typeface="Josefin Sans Bold"/>
                  <a:sym typeface="Josefin Sans Bold"/>
                </a:rPr>
                <a:t>Demo về công nghệ Ảo hóa</a:t>
              </a:r>
            </a:p>
          </p:txBody>
        </p:sp>
        <p:sp>
          <p:nvSpPr>
            <p:cNvPr name="TextBox 4" id="4"/>
            <p:cNvSpPr txBox="true"/>
            <p:nvPr/>
          </p:nvSpPr>
          <p:spPr>
            <a:xfrm rot="0">
              <a:off x="0" y="1606040"/>
              <a:ext cx="11627002" cy="664337"/>
            </a:xfrm>
            <a:prstGeom prst="rect">
              <a:avLst/>
            </a:prstGeom>
          </p:spPr>
          <p:txBody>
            <a:bodyPr anchor="t" rtlCol="false" tIns="0" lIns="0" bIns="0" rIns="0">
              <a:spAutoFit/>
            </a:bodyPr>
            <a:lstStyle/>
            <a:p>
              <a:pPr algn="l">
                <a:lnSpc>
                  <a:spcPts val="4262"/>
                </a:lnSpc>
              </a:pPr>
              <a:r>
                <a:rPr lang="en-US" sz="2899" spc="579">
                  <a:solidFill>
                    <a:srgbClr val="2B4B82"/>
                  </a:solidFill>
                  <a:latin typeface="Josefin Sans"/>
                  <a:ea typeface="Josefin Sans"/>
                  <a:cs typeface="Josefin Sans"/>
                  <a:sym typeface="Josefin Sans"/>
                </a:rPr>
                <a:t>MÁY ẢO - VIRTUAL MACHINE</a:t>
              </a:r>
            </a:p>
          </p:txBody>
        </p:sp>
      </p:grpSp>
      <p:grpSp>
        <p:nvGrpSpPr>
          <p:cNvPr name="Group 5" id="5"/>
          <p:cNvGrpSpPr/>
          <p:nvPr/>
        </p:nvGrpSpPr>
        <p:grpSpPr>
          <a:xfrm rot="0">
            <a:off x="851630" y="2823308"/>
            <a:ext cx="14536858" cy="2320192"/>
            <a:chOff x="0" y="0"/>
            <a:chExt cx="19382478" cy="3093590"/>
          </a:xfrm>
        </p:grpSpPr>
        <p:sp>
          <p:nvSpPr>
            <p:cNvPr name="TextBox 6" id="6"/>
            <p:cNvSpPr txBox="true"/>
            <p:nvPr/>
          </p:nvSpPr>
          <p:spPr>
            <a:xfrm rot="0">
              <a:off x="0" y="-57150"/>
              <a:ext cx="19382478" cy="622723"/>
            </a:xfrm>
            <a:prstGeom prst="rect">
              <a:avLst/>
            </a:prstGeom>
          </p:spPr>
          <p:txBody>
            <a:bodyPr anchor="t" rtlCol="false" tIns="0" lIns="0" bIns="0" rIns="0">
              <a:spAutoFit/>
            </a:bodyPr>
            <a:lstStyle/>
            <a:p>
              <a:pPr algn="l">
                <a:lnSpc>
                  <a:spcPts val="3919"/>
                </a:lnSpc>
              </a:pPr>
              <a:r>
                <a:rPr lang="en-US" sz="2800" b="true">
                  <a:solidFill>
                    <a:srgbClr val="2B4B82"/>
                  </a:solidFill>
                  <a:latin typeface="Josefin Sans Bold"/>
                  <a:ea typeface="Josefin Sans Bold"/>
                  <a:cs typeface="Josefin Sans Bold"/>
                  <a:sym typeface="Josefin Sans Bold"/>
                </a:rPr>
                <a:t>Máy ảo là gì?</a:t>
              </a:r>
            </a:p>
          </p:txBody>
        </p:sp>
        <p:sp>
          <p:nvSpPr>
            <p:cNvPr name="TextBox 7" id="7"/>
            <p:cNvSpPr txBox="true"/>
            <p:nvPr/>
          </p:nvSpPr>
          <p:spPr>
            <a:xfrm rot="0">
              <a:off x="0" y="872995"/>
              <a:ext cx="19382478" cy="2220595"/>
            </a:xfrm>
            <a:prstGeom prst="rect">
              <a:avLst/>
            </a:prstGeom>
          </p:spPr>
          <p:txBody>
            <a:bodyPr anchor="t" rtlCol="false" tIns="0" lIns="0" bIns="0" rIns="0">
              <a:spAutoFit/>
            </a:bodyPr>
            <a:lstStyle/>
            <a:p>
              <a:pPr algn="l">
                <a:lnSpc>
                  <a:spcPts val="3359"/>
                </a:lnSpc>
              </a:pPr>
              <a:r>
                <a:rPr lang="en-US" sz="2400">
                  <a:solidFill>
                    <a:srgbClr val="2B4B82"/>
                  </a:solidFill>
                  <a:latin typeface="Josefin Sans"/>
                  <a:ea typeface="Josefin Sans"/>
                  <a:cs typeface="Josefin Sans"/>
                  <a:sym typeface="Josefin Sans"/>
                </a:rPr>
                <a:t>Máy ảo là một chương trình đóng vai trò như một máy vi tính ảo. Nó chạy trên hệ điều hành hiện tại - hệ điều hành chủ và cung cấp phần cứng ảo tới hệ điều hành khách. Các hệ điều hành khách chạy trên các cửa sổ của hệ điều hành chủ, giống như bất kỳ chương trình nào khác của máy. Đối với những hệ điều hành khách, máy ảo lại hiện diện như một cỗ máy vật lý thực sự.</a:t>
              </a:r>
            </a:p>
          </p:txBody>
        </p:sp>
      </p:grpSp>
      <p:grpSp>
        <p:nvGrpSpPr>
          <p:cNvPr name="Group 8" id="8"/>
          <p:cNvGrpSpPr/>
          <p:nvPr/>
        </p:nvGrpSpPr>
        <p:grpSpPr>
          <a:xfrm rot="0">
            <a:off x="851630" y="5610225"/>
            <a:ext cx="14536858" cy="3577492"/>
            <a:chOff x="0" y="0"/>
            <a:chExt cx="19382478" cy="4769990"/>
          </a:xfrm>
        </p:grpSpPr>
        <p:sp>
          <p:nvSpPr>
            <p:cNvPr name="TextBox 9" id="9"/>
            <p:cNvSpPr txBox="true"/>
            <p:nvPr/>
          </p:nvSpPr>
          <p:spPr>
            <a:xfrm rot="0">
              <a:off x="0" y="-57150"/>
              <a:ext cx="19382478" cy="622723"/>
            </a:xfrm>
            <a:prstGeom prst="rect">
              <a:avLst/>
            </a:prstGeom>
          </p:spPr>
          <p:txBody>
            <a:bodyPr anchor="t" rtlCol="false" tIns="0" lIns="0" bIns="0" rIns="0">
              <a:spAutoFit/>
            </a:bodyPr>
            <a:lstStyle/>
            <a:p>
              <a:pPr algn="l">
                <a:lnSpc>
                  <a:spcPts val="3919"/>
                </a:lnSpc>
              </a:pPr>
              <a:r>
                <a:rPr lang="en-US" sz="2800" b="true">
                  <a:solidFill>
                    <a:srgbClr val="2B4B82"/>
                  </a:solidFill>
                  <a:latin typeface="Josefin Sans Bold"/>
                  <a:ea typeface="Josefin Sans Bold"/>
                  <a:cs typeface="Josefin Sans Bold"/>
                  <a:sym typeface="Josefin Sans Bold"/>
                </a:rPr>
                <a:t>Máy ảo hoạt động như thế nào?</a:t>
              </a:r>
            </a:p>
          </p:txBody>
        </p:sp>
        <p:sp>
          <p:nvSpPr>
            <p:cNvPr name="TextBox 10" id="10"/>
            <p:cNvSpPr txBox="true"/>
            <p:nvPr/>
          </p:nvSpPr>
          <p:spPr>
            <a:xfrm rot="0">
              <a:off x="0" y="872995"/>
              <a:ext cx="19382478" cy="3896995"/>
            </a:xfrm>
            <a:prstGeom prst="rect">
              <a:avLst/>
            </a:prstGeom>
          </p:spPr>
          <p:txBody>
            <a:bodyPr anchor="t" rtlCol="false" tIns="0" lIns="0" bIns="0" rIns="0">
              <a:spAutoFit/>
            </a:bodyPr>
            <a:lstStyle/>
            <a:p>
              <a:pPr algn="l">
                <a:lnSpc>
                  <a:spcPts val="3359"/>
                </a:lnSpc>
              </a:pPr>
              <a:r>
                <a:rPr lang="en-US" sz="2400">
                  <a:solidFill>
                    <a:srgbClr val="2B4B82"/>
                  </a:solidFill>
                  <a:latin typeface="Josefin Sans"/>
                  <a:ea typeface="Josefin Sans"/>
                  <a:cs typeface="Josefin Sans"/>
                  <a:sym typeface="Josefin Sans"/>
                </a:rPr>
                <a:t>Công nghệ ảo hóa cho phép bạn chia sẻ một hệ thống với nhiều môi trường ảo. Hypervisor (phần mềm giám sát máy ảo) quản lý phần cứng và tách các tài nguyên vật lý khỏi môi trường ảo. Những tài nguyên này được phân vùng khi cần thiết từ môi trường vật lý đến các máy ảo.</a:t>
              </a:r>
            </a:p>
            <a:p>
              <a:pPr algn="l">
                <a:lnSpc>
                  <a:spcPts val="3359"/>
                </a:lnSpc>
              </a:pPr>
              <a:r>
                <a:rPr lang="en-US" sz="2400">
                  <a:solidFill>
                    <a:srgbClr val="2B4B82"/>
                  </a:solidFill>
                  <a:latin typeface="Josefin Sans"/>
                  <a:ea typeface="Josefin Sans"/>
                  <a:cs typeface="Josefin Sans"/>
                  <a:sym typeface="Josefin Sans"/>
                </a:rPr>
                <a:t>Khi máy ảo đang chạy và người dùng hoặc chương trình đưa ra lệnh yêu cầu tài nguyên bổ sung từ môi trường vật lý, hypervisor sẽ lập lịch yêu cầu tới tài nguyên của hệ thống vật lý để hệ điều hành và ứng dụng của máy ảo có thể truy cập nhóm tài nguyên vật lý được chia sẻ.</a:t>
              </a:r>
            </a:p>
            <a:p>
              <a:pPr algn="l">
                <a:lnSpc>
                  <a:spcPts val="3359"/>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CFC2"/>
        </a:solidFill>
      </p:bgPr>
    </p:bg>
    <p:spTree>
      <p:nvGrpSpPr>
        <p:cNvPr id="1" name=""/>
        <p:cNvGrpSpPr/>
        <p:nvPr/>
      </p:nvGrpSpPr>
      <p:grpSpPr>
        <a:xfrm>
          <a:off x="0" y="0"/>
          <a:ext cx="0" cy="0"/>
          <a:chOff x="0" y="0"/>
          <a:chExt cx="0" cy="0"/>
        </a:xfrm>
      </p:grpSpPr>
      <p:sp>
        <p:nvSpPr>
          <p:cNvPr name="Freeform 2" id="2"/>
          <p:cNvSpPr/>
          <p:nvPr/>
        </p:nvSpPr>
        <p:spPr>
          <a:xfrm flipH="false" flipV="false" rot="0">
            <a:off x="3571579" y="2608048"/>
            <a:ext cx="11144842" cy="5070903"/>
          </a:xfrm>
          <a:custGeom>
            <a:avLst/>
            <a:gdLst/>
            <a:ahLst/>
            <a:cxnLst/>
            <a:rect r="r" b="b" t="t" l="l"/>
            <a:pathLst>
              <a:path h="5070903" w="11144842">
                <a:moveTo>
                  <a:pt x="0" y="0"/>
                </a:moveTo>
                <a:lnTo>
                  <a:pt x="11144842" y="0"/>
                </a:lnTo>
                <a:lnTo>
                  <a:pt x="11144842" y="5070904"/>
                </a:lnTo>
                <a:lnTo>
                  <a:pt x="0" y="50709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89410" y="6596490"/>
            <a:ext cx="4960989" cy="4114800"/>
          </a:xfrm>
          <a:custGeom>
            <a:avLst/>
            <a:gdLst/>
            <a:ahLst/>
            <a:cxnLst/>
            <a:rect r="r" b="b" t="t" l="l"/>
            <a:pathLst>
              <a:path h="4114800" w="4960989">
                <a:moveTo>
                  <a:pt x="0" y="0"/>
                </a:moveTo>
                <a:lnTo>
                  <a:pt x="4960989" y="0"/>
                </a:lnTo>
                <a:lnTo>
                  <a:pt x="496098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124384" y="3914139"/>
            <a:ext cx="10039231" cy="2334897"/>
          </a:xfrm>
          <a:prstGeom prst="rect">
            <a:avLst/>
          </a:prstGeom>
        </p:spPr>
        <p:txBody>
          <a:bodyPr anchor="t" rtlCol="false" tIns="0" lIns="0" bIns="0" rIns="0">
            <a:spAutoFit/>
          </a:bodyPr>
          <a:lstStyle/>
          <a:p>
            <a:pPr algn="ctr">
              <a:lnSpc>
                <a:spcPts val="9379"/>
              </a:lnSpc>
            </a:pPr>
            <a:r>
              <a:rPr lang="en-US" sz="6699">
                <a:solidFill>
                  <a:srgbClr val="545454"/>
                </a:solidFill>
                <a:latin typeface="Calistoga"/>
                <a:ea typeface="Calistoga"/>
                <a:cs typeface="Calistoga"/>
                <a:sym typeface="Calistoga"/>
              </a:rPr>
              <a:t>Cảm ơn các bạn và thầy cô </a:t>
            </a:r>
          </a:p>
          <a:p>
            <a:pPr algn="ctr">
              <a:lnSpc>
                <a:spcPts val="9379"/>
              </a:lnSpc>
            </a:pPr>
            <a:r>
              <a:rPr lang="en-US" sz="6699">
                <a:solidFill>
                  <a:srgbClr val="545454"/>
                </a:solidFill>
                <a:latin typeface="Calistoga"/>
                <a:ea typeface="Calistoga"/>
                <a:cs typeface="Calistoga"/>
                <a:sym typeface="Calistoga"/>
              </a:rPr>
              <a:t>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DAFz6Q2y5X4</dc:identifier>
  <dcterms:modified xsi:type="dcterms:W3CDTF">2011-08-01T06:04:30Z</dcterms:modified>
  <cp:revision>1</cp:revision>
  <dc:title>Đề tài Ảo hóa</dc:title>
</cp:coreProperties>
</file>